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8CCBA4-1436-400C-9F78-CCAF500DA52C}" v="39" dt="2026-10-28T13:55:30.7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kat sara" userId="cc255c8199dacf49" providerId="Windows Live" clId="Web-{AC8CCBA4-1436-400C-9F78-CCAF500DA52C}"/>
    <pc:docChg chg="modSld">
      <pc:chgData name="barakat sara" userId="cc255c8199dacf49" providerId="Windows Live" clId="Web-{AC8CCBA4-1436-400C-9F78-CCAF500DA52C}" dt="2026-10-28T13:55:30.754" v="35" actId="20577"/>
      <pc:docMkLst>
        <pc:docMk/>
      </pc:docMkLst>
      <pc:sldChg chg="modSp">
        <pc:chgData name="barakat sara" userId="cc255c8199dacf49" providerId="Windows Live" clId="Web-{AC8CCBA4-1436-400C-9F78-CCAF500DA52C}" dt="2026-10-28T13:55:30.754" v="35" actId="20577"/>
        <pc:sldMkLst>
          <pc:docMk/>
          <pc:sldMk cId="0" sldId="256"/>
        </pc:sldMkLst>
        <pc:spChg chg="mod">
          <ac:chgData name="barakat sara" userId="cc255c8199dacf49" providerId="Windows Live" clId="Web-{AC8CCBA4-1436-400C-9F78-CCAF500DA52C}" dt="2026-10-28T13:55:30.754" v="35" actId="20577"/>
          <ac:spMkLst>
            <pc:docMk/>
            <pc:sldMk cId="0" sldId="256"/>
            <ac:spMk id="6" creationId="{00000000-0000-0000-0000-000000000000}"/>
          </ac:spMkLst>
        </pc:spChg>
        <pc:spChg chg="mod">
          <ac:chgData name="barakat sara" userId="cc255c8199dacf49" providerId="Windows Live" clId="Web-{AC8CCBA4-1436-400C-9F78-CCAF500DA52C}" dt="2026-10-28T13:52:38.990" v="31"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0F9278D-C21E-4877-B925-02E588188A1B}" type="datetimeFigureOut">
              <a:t>10/28/2026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6E8B77F-56F0-437D-950F-FA56AE075813}" type="slidenum">
              <a:t>‹#›</a:t>
            </a:fld>
            <a:endParaRPr lang="en-US"/>
          </a:p>
        </p:txBody>
      </p:sp>
    </p:spTree>
    <p:extLst>
      <p:ext uri="{BB962C8B-B14F-4D97-AF65-F5344CB8AC3E}">
        <p14:creationId xmlns:p14="http://schemas.microsoft.com/office/powerpoint/2010/main" val="2244355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and both team members. The blank space under each name can hold a student ID, role, or signature.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Medical tourism means travelling to another country for treatment or surgery — for lower cost, higher quality, a specialty unavailable at home, or shorter waiting times. The journey involves many parties, and today there is no single trusted place that connects them. These five pain points define the problem our system addresses.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is an MVP: 20 requirements selected from 99 (81 functional, 18 non-functional). Its purpose is not to deliver every feature but to answer one question — can the full cycle work end to end on the platform alone? If yes, the idea is proven and can be built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web platform that gathers all parties in one place. The smart features are built after the first version, because they need real data on hospitals, prices and cases that only exists once the core system is running. The assistant guides patients but never gives a medical diagnosis.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is the core cycle the MVP must prove. The patient registers and verifies, builds a medical profile, searches verified providers and sends an inquiry. The provider reviews the case and returns an itemised quote. If the patient rejects it, they go back to compare other offers; if they accept, the case becomes a booking with an online deposit and an automatic bilingual invoice. The case coordinator then follows the patient through treatment, stay and follow-up. Every status change is recorded, and notifications keep each party informed at every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parts in separate repositories, communicating only through a versioned REST API. This separation lets a mobile app reuse the same API later. Branches: Dev for testing, Prod for production, and main as the stable version. In the MVP, four human roles are active — patient, provider admin, case coordinator and system admin — plus the payment gateway and email service as external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overlap rather than run strictly one after another, so feedback from each seminar can flow back into the work. Documentation runs from the first day to the last. Testing is listed as its own phase because the MVP must prove the full cycle works before the technical interview.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starts on October 10. Documentation runs for the whole project, from the first day to the final presentation. Seminar 1 (Nov 3) presents the problem, requirements and early analysis. Seminar 2 (Jan 12) presents the design and implementation progress. The technical interview (Jan 26) follows the end of implementation and testing, when the working MVP can be demonstrated. The final presentation is on February 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these targets are met, development moves to the next phases: travel services, remote consultations, follow-up, and then the smart AI features.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from the committee.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7302F"/>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7302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7302F"/>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7302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2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FC9C4"/>
                </a:solidFill>
                <a:latin typeface="IBM Plex Sans" pitchFamily="34" charset="0"/>
                <a:ea typeface="IBM Plex Sans" pitchFamily="34" charset="-122"/>
                <a:cs typeface="IBM Plex Sans" pitchFamily="34" charset="-120"/>
              </a:rPr>
              <a:t>GRADUATION PROJECT · 2026–2027</a:t>
            </a:r>
            <a:endParaRPr lang="en-US" sz="1200" dirty="0"/>
          </a:p>
        </p:txBody>
      </p:sp>
      <p:sp>
        <p:nvSpPr>
          <p:cNvPr id="3" name="Text 1"/>
          <p:cNvSpPr>
            <a:spLocks noGrp="1"/>
          </p:cNvSpPr>
          <p:nvPr>
            <p:ph type="title"/>
          </p:nvPr>
        </p:nvSpPr>
        <p:spPr>
          <a:xfrm>
            <a:off x="812800" y="1178520"/>
            <a:ext cx="8502650" cy="130552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Source Serif 4" pitchFamily="18" charset="0"/>
                <a:ea typeface="Source Serif 4" pitchFamily="18" charset="-122"/>
                <a:cs typeface="Source Serif 4" pitchFamily="18" charset="-120"/>
              </a:rPr>
              <a:t>Smart Medical Tourism System</a:t>
            </a:r>
            <a:endParaRPr lang="en-US" sz="4800" dirty="0"/>
          </a:p>
        </p:txBody>
      </p:sp>
      <p:sp>
        <p:nvSpPr>
          <p:cNvPr id="4" name="Text 2"/>
          <p:cNvSpPr/>
          <p:nvPr/>
        </p:nvSpPr>
        <p:spPr>
          <a:xfrm>
            <a:off x="812800" y="2611041"/>
            <a:ext cx="784860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AD8"/>
                </a:solidFill>
                <a:latin typeface="IBM Plex Sans" pitchFamily="34" charset="0"/>
                <a:ea typeface="IBM Plex Sans" pitchFamily="34" charset="-122"/>
                <a:cs typeface="IBM Plex Sans" pitchFamily="34" charset="-120"/>
              </a:rPr>
              <a:t>A unified platform that manages the international patient's journey — from searching for treatment to follow-up after returning home.</a:t>
            </a:r>
            <a:endParaRPr lang="en-US" sz="1400" dirty="0"/>
          </a:p>
        </p:txBody>
      </p:sp>
      <p:sp>
        <p:nvSpPr>
          <p:cNvPr id="5" name="Text 3"/>
          <p:cNvSpPr/>
          <p:nvPr/>
        </p:nvSpPr>
        <p:spPr>
          <a:xfrm>
            <a:off x="812800" y="457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FC9C4"/>
                </a:solidFill>
                <a:latin typeface="IBM Plex Sans" pitchFamily="34" charset="0"/>
                <a:ea typeface="IBM Plex Sans" pitchFamily="34" charset="-122"/>
                <a:cs typeface="IBM Plex Sans" pitchFamily="34" charset="-120"/>
              </a:rPr>
              <a:t>PREPARED BY</a:t>
            </a:r>
            <a:endParaRPr lang="en-US" sz="1200" dirty="0"/>
          </a:p>
        </p:txBody>
      </p:sp>
      <p:sp>
        <p:nvSpPr>
          <p:cNvPr id="6" name="Text 4"/>
          <p:cNvSpPr/>
          <p:nvPr/>
        </p:nvSpPr>
        <p:spPr>
          <a:xfrm>
            <a:off x="812800" y="4937720"/>
            <a:ext cx="3924300" cy="274290"/>
          </a:xfrm>
          <a:prstGeom prst="rect">
            <a:avLst/>
          </a:prstGeom>
          <a:noFill/>
          <a:ln/>
        </p:spPr>
        <p:txBody>
          <a:bodyPr wrap="square" lIns="0" tIns="0" rIns="0" bIns="0" rtlCol="0" anchor="t">
            <a:normAutofit/>
          </a:bodyPr>
          <a:lstStyle/>
          <a:p>
            <a:pPr>
              <a:lnSpc>
                <a:spcPts val="1960"/>
              </a:lnSpc>
            </a:pPr>
            <a:r>
              <a:rPr lang="en-US" sz="1400" b="1">
                <a:solidFill>
                  <a:srgbClr val="F6F4EF"/>
                </a:solidFill>
                <a:latin typeface="IBM Plex Sans"/>
                <a:ea typeface="IBM Plex Sans" pitchFamily="34" charset="-122"/>
                <a:cs typeface="IBM Plex Sans" pitchFamily="34" charset="-120"/>
              </a:rPr>
              <a:t>sara Barakat</a:t>
            </a:r>
            <a:endParaRPr lang="en-US" sz="1400" dirty="0" err="1"/>
          </a:p>
        </p:txBody>
      </p:sp>
      <p:sp>
        <p:nvSpPr>
          <p:cNvPr id="7" name="Shape 5"/>
          <p:cNvSpPr/>
          <p:nvPr/>
        </p:nvSpPr>
        <p:spPr>
          <a:xfrm>
            <a:off x="812800" y="5662861"/>
            <a:ext cx="3810000" cy="0"/>
          </a:xfrm>
          <a:prstGeom prst="line">
            <a:avLst/>
          </a:prstGeom>
          <a:noFill/>
          <a:ln w="12700">
            <a:solidFill>
              <a:srgbClr val="4F7473"/>
            </a:solidFill>
            <a:prstDash val="solid"/>
          </a:ln>
        </p:spPr>
      </p:sp>
      <p:sp>
        <p:nvSpPr>
          <p:cNvPr id="8" name="Text 6"/>
          <p:cNvSpPr/>
          <p:nvPr/>
        </p:nvSpPr>
        <p:spPr>
          <a:xfrm>
            <a:off x="5232400" y="4937720"/>
            <a:ext cx="3924300" cy="274290"/>
          </a:xfrm>
          <a:prstGeom prst="rect">
            <a:avLst/>
          </a:prstGeom>
          <a:noFill/>
          <a:ln/>
        </p:spPr>
        <p:txBody>
          <a:bodyPr wrap="square" lIns="0" tIns="0" rIns="0" bIns="0" rtlCol="0" anchor="t">
            <a:normAutofit/>
          </a:bodyPr>
          <a:lstStyle/>
          <a:p>
            <a:pPr>
              <a:lnSpc>
                <a:spcPts val="1960"/>
              </a:lnSpc>
            </a:pPr>
            <a:r>
              <a:rPr lang="en-US" sz="1400" b="1" dirty="0" err="1">
                <a:solidFill>
                  <a:srgbClr val="F6F4EF"/>
                </a:solidFill>
                <a:latin typeface="IBM Plex Sans"/>
                <a:ea typeface="IBM Plex Sans" pitchFamily="34" charset="-122"/>
                <a:cs typeface="IBM Plex Sans" pitchFamily="34" charset="-120"/>
              </a:rPr>
              <a:t>jeda</a:t>
            </a:r>
            <a:r>
              <a:rPr lang="en-US" sz="1400" b="1" dirty="0">
                <a:solidFill>
                  <a:srgbClr val="F6F4EF"/>
                </a:solidFill>
                <a:latin typeface="IBM Plex Sans"/>
                <a:ea typeface="IBM Plex Sans" pitchFamily="34" charset="-122"/>
                <a:cs typeface="IBM Plex Sans" pitchFamily="34" charset="-120"/>
              </a:rPr>
              <a:t> Al-</a:t>
            </a:r>
            <a:r>
              <a:rPr lang="en-US" sz="1400" b="1" dirty="0" err="1">
                <a:solidFill>
                  <a:srgbClr val="F6F4EF"/>
                </a:solidFill>
                <a:latin typeface="IBM Plex Sans"/>
                <a:ea typeface="IBM Plex Sans" pitchFamily="34" charset="-122"/>
                <a:cs typeface="IBM Plex Sans" pitchFamily="34" charset="-120"/>
              </a:rPr>
              <a:t>kadri</a:t>
            </a:r>
            <a:endParaRPr lang="en-US" sz="1400" dirty="0" err="1"/>
          </a:p>
        </p:txBody>
      </p:sp>
      <p:sp>
        <p:nvSpPr>
          <p:cNvPr id="9" name="Shape 7"/>
          <p:cNvSpPr/>
          <p:nvPr/>
        </p:nvSpPr>
        <p:spPr>
          <a:xfrm>
            <a:off x="5232400" y="5662861"/>
            <a:ext cx="3810000" cy="0"/>
          </a:xfrm>
          <a:prstGeom prst="line">
            <a:avLst/>
          </a:prstGeom>
          <a:noFill/>
          <a:ln w="12700">
            <a:solidFill>
              <a:srgbClr val="4F747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The Problem</a:t>
            </a:r>
            <a:endParaRPr lang="en-US" sz="3000" dirty="0"/>
          </a:p>
        </p:txBody>
      </p:sp>
      <p:sp>
        <p:nvSpPr>
          <p:cNvPr id="3" name="Text 1"/>
          <p:cNvSpPr/>
          <p:nvPr/>
        </p:nvSpPr>
        <p:spPr>
          <a:xfrm>
            <a:off x="812800" y="1536700"/>
            <a:ext cx="941832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302F"/>
                </a:solidFill>
                <a:latin typeface="IBM Plex Sans" pitchFamily="34" charset="0"/>
                <a:ea typeface="IBM Plex Sans" pitchFamily="34" charset="-122"/>
                <a:cs typeface="IBM Plex Sans" pitchFamily="34" charset="-120"/>
              </a:rPr>
              <a:t>Patients who travel abroad for treatment must coordinate the hospital, doctor, hotel, transport, visa and payments </a:t>
            </a:r>
            <a:r>
              <a:rPr lang="en-US" sz="1600" b="1" dirty="0">
                <a:solidFill>
                  <a:srgbClr val="17302F"/>
                </a:solidFill>
                <a:latin typeface="IBM Plex Sans" pitchFamily="34" charset="0"/>
                <a:ea typeface="IBM Plex Sans" pitchFamily="34" charset="-122"/>
                <a:cs typeface="IBM Plex Sans" pitchFamily="34" charset="-120"/>
              </a:rPr>
              <a:t>on their own</a:t>
            </a:r>
            <a:r>
              <a:rPr lang="en-US" sz="1600" dirty="0">
                <a:solidFill>
                  <a:srgbClr val="17302F"/>
                </a:solidFill>
                <a:latin typeface="IBM Plex Sans" pitchFamily="34" charset="0"/>
                <a:ea typeface="IBM Plex Sans" pitchFamily="34" charset="-122"/>
                <a:cs typeface="IBM Plex Sans" pitchFamily="34" charset="-120"/>
              </a:rPr>
              <a:t> — through scattered channels and with little reliable information.</a:t>
            </a:r>
            <a:endParaRPr lang="en-US" sz="1600" dirty="0"/>
          </a:p>
        </p:txBody>
      </p:sp>
      <p:sp>
        <p:nvSpPr>
          <p:cNvPr id="4" name="Shape 2"/>
          <p:cNvSpPr/>
          <p:nvPr/>
        </p:nvSpPr>
        <p:spPr>
          <a:xfrm>
            <a:off x="815975" y="2797175"/>
            <a:ext cx="1981200" cy="2660650"/>
          </a:xfrm>
          <a:prstGeom prst="roundRect">
            <a:avLst>
              <a:gd name="adj" fmla="val 4968"/>
            </a:avLst>
          </a:prstGeom>
          <a:solidFill>
            <a:srgbClr val="FDFCF9"/>
          </a:solidFill>
          <a:ln w="6350">
            <a:solidFill>
              <a:srgbClr val="E2DED4"/>
            </a:solidFill>
            <a:prstDash val="solid"/>
          </a:ln>
        </p:spPr>
      </p:sp>
      <p:pic>
        <p:nvPicPr>
          <p:cNvPr id="5" name="Image 0" descr="Search"/>
          <p:cNvPicPr>
            <a:picLocks noChangeAspect="1"/>
          </p:cNvPicPr>
          <p:nvPr/>
        </p:nvPicPr>
        <p:blipFill>
          <a:blip r:embed="rId3"/>
          <a:srcRect/>
          <a:stretch/>
        </p:blipFill>
        <p:spPr>
          <a:xfrm>
            <a:off x="996950" y="3003550"/>
            <a:ext cx="304800" cy="304800"/>
          </a:xfrm>
          <a:prstGeom prst="rect">
            <a:avLst/>
          </a:prstGeom>
        </p:spPr>
      </p:pic>
      <p:sp>
        <p:nvSpPr>
          <p:cNvPr id="6" name="Text 3"/>
          <p:cNvSpPr/>
          <p:nvPr/>
        </p:nvSpPr>
        <p:spPr>
          <a:xfrm>
            <a:off x="996950" y="3409950"/>
            <a:ext cx="1670050"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Lack of transparency</a:t>
            </a:r>
            <a:endParaRPr lang="en-US" sz="1600" dirty="0"/>
          </a:p>
        </p:txBody>
      </p:sp>
      <p:sp>
        <p:nvSpPr>
          <p:cNvPr id="7" name="Text 4"/>
          <p:cNvSpPr/>
          <p:nvPr/>
        </p:nvSpPr>
        <p:spPr>
          <a:xfrm>
            <a:off x="996950" y="3999210"/>
            <a:ext cx="167005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Real prices, hospital quality and accreditations are hard to verify from abroad.</a:t>
            </a:r>
            <a:endParaRPr lang="en-US" sz="1200" dirty="0"/>
          </a:p>
        </p:txBody>
      </p:sp>
      <p:sp>
        <p:nvSpPr>
          <p:cNvPr id="8" name="Shape 5"/>
          <p:cNvSpPr/>
          <p:nvPr/>
        </p:nvSpPr>
        <p:spPr>
          <a:xfrm>
            <a:off x="2955925" y="2797175"/>
            <a:ext cx="1981200" cy="2660650"/>
          </a:xfrm>
          <a:prstGeom prst="roundRect">
            <a:avLst>
              <a:gd name="adj" fmla="val 4968"/>
            </a:avLst>
          </a:prstGeom>
          <a:solidFill>
            <a:srgbClr val="FDFCF9"/>
          </a:solidFill>
          <a:ln w="6350">
            <a:solidFill>
              <a:srgbClr val="E2DED4"/>
            </a:solidFill>
            <a:prstDash val="solid"/>
          </a:ln>
        </p:spPr>
      </p:sp>
      <p:pic>
        <p:nvPicPr>
          <p:cNvPr id="9" name="Image 1" descr="Chat"/>
          <p:cNvPicPr>
            <a:picLocks noChangeAspect="1"/>
          </p:cNvPicPr>
          <p:nvPr/>
        </p:nvPicPr>
        <p:blipFill>
          <a:blip r:embed="rId4"/>
          <a:srcRect/>
          <a:stretch/>
        </p:blipFill>
        <p:spPr>
          <a:xfrm>
            <a:off x="3136900" y="3003550"/>
            <a:ext cx="304800" cy="304800"/>
          </a:xfrm>
          <a:prstGeom prst="rect">
            <a:avLst/>
          </a:prstGeom>
        </p:spPr>
      </p:pic>
      <p:sp>
        <p:nvSpPr>
          <p:cNvPr id="10" name="Text 6"/>
          <p:cNvSpPr/>
          <p:nvPr/>
        </p:nvSpPr>
        <p:spPr>
          <a:xfrm>
            <a:off x="3136900" y="3409950"/>
            <a:ext cx="1670050"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Fragmented channels</a:t>
            </a:r>
            <a:endParaRPr lang="en-US" sz="1600" dirty="0"/>
          </a:p>
        </p:txBody>
      </p:sp>
      <p:sp>
        <p:nvSpPr>
          <p:cNvPr id="11" name="Text 7"/>
          <p:cNvSpPr/>
          <p:nvPr/>
        </p:nvSpPr>
        <p:spPr>
          <a:xfrm>
            <a:off x="3136900" y="3999210"/>
            <a:ext cx="167005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Email, WhatsApp and agents carry the case, so documents and details get lost.</a:t>
            </a:r>
            <a:endParaRPr lang="en-US" sz="1200" dirty="0"/>
          </a:p>
        </p:txBody>
      </p:sp>
      <p:sp>
        <p:nvSpPr>
          <p:cNvPr id="12" name="Shape 8"/>
          <p:cNvSpPr/>
          <p:nvPr/>
        </p:nvSpPr>
        <p:spPr>
          <a:xfrm>
            <a:off x="5095875" y="2797175"/>
            <a:ext cx="1981200" cy="2660650"/>
          </a:xfrm>
          <a:prstGeom prst="roundRect">
            <a:avLst>
              <a:gd name="adj" fmla="val 4968"/>
            </a:avLst>
          </a:prstGeom>
          <a:solidFill>
            <a:srgbClr val="FDFCF9"/>
          </a:solidFill>
          <a:ln w="6350">
            <a:solidFill>
              <a:srgbClr val="E2DED4"/>
            </a:solidFill>
            <a:prstDash val="solid"/>
          </a:ln>
        </p:spPr>
      </p:sp>
      <p:pic>
        <p:nvPicPr>
          <p:cNvPr id="13" name="Image 2" descr="Settings"/>
          <p:cNvPicPr>
            <a:picLocks noChangeAspect="1"/>
          </p:cNvPicPr>
          <p:nvPr/>
        </p:nvPicPr>
        <p:blipFill>
          <a:blip r:embed="rId5"/>
          <a:srcRect/>
          <a:stretch/>
        </p:blipFill>
        <p:spPr>
          <a:xfrm>
            <a:off x="5276850" y="3003550"/>
            <a:ext cx="304800" cy="304800"/>
          </a:xfrm>
          <a:prstGeom prst="rect">
            <a:avLst/>
          </a:prstGeom>
        </p:spPr>
      </p:pic>
      <p:sp>
        <p:nvSpPr>
          <p:cNvPr id="14" name="Text 9"/>
          <p:cNvSpPr/>
          <p:nvPr/>
        </p:nvSpPr>
        <p:spPr>
          <a:xfrm>
            <a:off x="5276850" y="3409950"/>
            <a:ext cx="1670050"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Complex coordination</a:t>
            </a:r>
            <a:endParaRPr lang="en-US" sz="1600" dirty="0"/>
          </a:p>
        </p:txBody>
      </p:sp>
      <p:sp>
        <p:nvSpPr>
          <p:cNvPr id="15" name="Text 10"/>
          <p:cNvSpPr/>
          <p:nvPr/>
        </p:nvSpPr>
        <p:spPr>
          <a:xfrm>
            <a:off x="5276850" y="3999210"/>
            <a:ext cx="167005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The patient alone juggles hospital, doctor, hotel, transport and visa.</a:t>
            </a:r>
            <a:endParaRPr lang="en-US" sz="1200" dirty="0"/>
          </a:p>
        </p:txBody>
      </p:sp>
      <p:sp>
        <p:nvSpPr>
          <p:cNvPr id="16" name="Shape 11"/>
          <p:cNvSpPr/>
          <p:nvPr/>
        </p:nvSpPr>
        <p:spPr>
          <a:xfrm>
            <a:off x="7235825" y="2797175"/>
            <a:ext cx="1981200" cy="2660650"/>
          </a:xfrm>
          <a:prstGeom prst="roundRect">
            <a:avLst>
              <a:gd name="adj" fmla="val 4968"/>
            </a:avLst>
          </a:prstGeom>
          <a:solidFill>
            <a:srgbClr val="FDFCF9"/>
          </a:solidFill>
          <a:ln w="6350">
            <a:solidFill>
              <a:srgbClr val="E2DED4"/>
            </a:solidFill>
            <a:prstDash val="solid"/>
          </a:ln>
        </p:spPr>
      </p:sp>
      <p:pic>
        <p:nvPicPr>
          <p:cNvPr id="17" name="Image 3" descr="Warning"/>
          <p:cNvPicPr>
            <a:picLocks noChangeAspect="1"/>
          </p:cNvPicPr>
          <p:nvPr/>
        </p:nvPicPr>
        <p:blipFill>
          <a:blip r:embed="rId6"/>
          <a:srcRect/>
          <a:stretch/>
        </p:blipFill>
        <p:spPr>
          <a:xfrm>
            <a:off x="7416800" y="3003550"/>
            <a:ext cx="304800" cy="304800"/>
          </a:xfrm>
          <a:prstGeom prst="rect">
            <a:avLst/>
          </a:prstGeom>
        </p:spPr>
      </p:pic>
      <p:sp>
        <p:nvSpPr>
          <p:cNvPr id="18" name="Text 12"/>
          <p:cNvSpPr/>
          <p:nvPr/>
        </p:nvSpPr>
        <p:spPr>
          <a:xfrm>
            <a:off x="7416800" y="3409950"/>
            <a:ext cx="167005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Low trust</a:t>
            </a:r>
            <a:endParaRPr lang="en-US" sz="1600" dirty="0"/>
          </a:p>
        </p:txBody>
      </p:sp>
      <p:sp>
        <p:nvSpPr>
          <p:cNvPr id="19" name="Text 13"/>
          <p:cNvSpPr/>
          <p:nvPr/>
        </p:nvSpPr>
        <p:spPr>
          <a:xfrm>
            <a:off x="7416800" y="3755380"/>
            <a:ext cx="167005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Patients fear fraud and unlicensed providers they cannot check.</a:t>
            </a:r>
            <a:endParaRPr lang="en-US" sz="1200" dirty="0"/>
          </a:p>
        </p:txBody>
      </p:sp>
      <p:sp>
        <p:nvSpPr>
          <p:cNvPr id="20" name="Shape 14"/>
          <p:cNvSpPr/>
          <p:nvPr/>
        </p:nvSpPr>
        <p:spPr>
          <a:xfrm>
            <a:off x="9375775" y="2797175"/>
            <a:ext cx="1981200" cy="2660650"/>
          </a:xfrm>
          <a:prstGeom prst="roundRect">
            <a:avLst>
              <a:gd name="adj" fmla="val 4968"/>
            </a:avLst>
          </a:prstGeom>
          <a:solidFill>
            <a:srgbClr val="FDFCF9"/>
          </a:solidFill>
          <a:ln w="6350">
            <a:solidFill>
              <a:srgbClr val="E2DED4"/>
            </a:solidFill>
            <a:prstDash val="solid"/>
          </a:ln>
        </p:spPr>
      </p:sp>
      <p:pic>
        <p:nvPicPr>
          <p:cNvPr id="21" name="Image 4" descr="Link"/>
          <p:cNvPicPr>
            <a:picLocks noChangeAspect="1"/>
          </p:cNvPicPr>
          <p:nvPr/>
        </p:nvPicPr>
        <p:blipFill>
          <a:blip r:embed="rId7"/>
          <a:srcRect/>
          <a:stretch/>
        </p:blipFill>
        <p:spPr>
          <a:xfrm>
            <a:off x="9556750" y="3003550"/>
            <a:ext cx="304800" cy="304800"/>
          </a:xfrm>
          <a:prstGeom prst="rect">
            <a:avLst/>
          </a:prstGeom>
        </p:spPr>
      </p:pic>
      <p:sp>
        <p:nvSpPr>
          <p:cNvPr id="22" name="Text 15"/>
          <p:cNvSpPr/>
          <p:nvPr/>
        </p:nvSpPr>
        <p:spPr>
          <a:xfrm>
            <a:off x="9556750" y="3409950"/>
            <a:ext cx="1670050"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Broken follow-up</a:t>
            </a:r>
            <a:endParaRPr lang="en-US" sz="1600" dirty="0"/>
          </a:p>
        </p:txBody>
      </p:sp>
      <p:sp>
        <p:nvSpPr>
          <p:cNvPr id="23" name="Text 16"/>
          <p:cNvSpPr/>
          <p:nvPr/>
        </p:nvSpPr>
        <p:spPr>
          <a:xfrm>
            <a:off x="9556750" y="3999210"/>
            <a:ext cx="167005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Once home, reaching the treating doctor becomes difficult.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Project Objective</a:t>
            </a:r>
            <a:endParaRPr lang="en-US" sz="3000" dirty="0"/>
          </a:p>
        </p:txBody>
      </p:sp>
      <p:sp>
        <p:nvSpPr>
          <p:cNvPr id="3" name="Text 1"/>
          <p:cNvSpPr/>
          <p:nvPr/>
        </p:nvSpPr>
        <p:spPr>
          <a:xfrm>
            <a:off x="812800" y="1648420"/>
            <a:ext cx="599109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6E70"/>
                </a:solidFill>
                <a:latin typeface="IBM Plex Sans" pitchFamily="34" charset="0"/>
                <a:ea typeface="IBM Plex Sans" pitchFamily="34" charset="-122"/>
                <a:cs typeface="IBM Plex Sans" pitchFamily="34" charset="-120"/>
              </a:rPr>
              <a:t>MAIN OBJECTIVE</a:t>
            </a:r>
            <a:endParaRPr lang="en-US" sz="1200" dirty="0"/>
          </a:p>
        </p:txBody>
      </p:sp>
      <p:sp>
        <p:nvSpPr>
          <p:cNvPr id="4" name="Text 2"/>
          <p:cNvSpPr/>
          <p:nvPr/>
        </p:nvSpPr>
        <p:spPr>
          <a:xfrm>
            <a:off x="812800" y="1963341"/>
            <a:ext cx="5991098"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302F"/>
                </a:solidFill>
                <a:latin typeface="IBM Plex Sans" pitchFamily="34" charset="0"/>
                <a:ea typeface="IBM Plex Sans" pitchFamily="34" charset="-122"/>
                <a:cs typeface="IBM Plex Sans" pitchFamily="34" charset="-120"/>
              </a:rPr>
              <a:t>Build </a:t>
            </a:r>
            <a:r>
              <a:rPr lang="en-US" sz="1600" b="1" dirty="0">
                <a:solidFill>
                  <a:srgbClr val="17302F"/>
                </a:solidFill>
                <a:latin typeface="IBM Plex Sans" pitchFamily="34" charset="0"/>
                <a:ea typeface="IBM Plex Sans" pitchFamily="34" charset="-122"/>
                <a:cs typeface="IBM Plex Sans" pitchFamily="34" charset="-120"/>
              </a:rPr>
              <a:t>one secure platform</a:t>
            </a:r>
            <a:r>
              <a:rPr lang="en-US" sz="1600" dirty="0">
                <a:solidFill>
                  <a:srgbClr val="17302F"/>
                </a:solidFill>
                <a:latin typeface="IBM Plex Sans" pitchFamily="34" charset="0"/>
                <a:ea typeface="IBM Plex Sans" pitchFamily="34" charset="-122"/>
                <a:cs typeface="IBM Plex Sans" pitchFamily="34" charset="-120"/>
              </a:rPr>
              <a:t> that brings all parties together and manages the patient's entire journey — from searching for treatment to follow-up after returning home.</a:t>
            </a:r>
            <a:endParaRPr lang="en-US" sz="1600" dirty="0"/>
          </a:p>
        </p:txBody>
      </p:sp>
      <p:sp>
        <p:nvSpPr>
          <p:cNvPr id="5" name="Shape 3"/>
          <p:cNvSpPr/>
          <p:nvPr/>
        </p:nvSpPr>
        <p:spPr>
          <a:xfrm>
            <a:off x="6934200" y="1485900"/>
            <a:ext cx="4445000" cy="1493391"/>
          </a:xfrm>
          <a:prstGeom prst="roundRect">
            <a:avLst>
              <a:gd name="adj" fmla="val 5102"/>
            </a:avLst>
          </a:prstGeom>
          <a:solidFill>
            <a:srgbClr val="FBEEE5"/>
          </a:solidFill>
          <a:ln/>
        </p:spPr>
      </p:sp>
      <p:sp>
        <p:nvSpPr>
          <p:cNvPr id="6" name="Shape 4"/>
          <p:cNvSpPr/>
          <p:nvPr/>
        </p:nvSpPr>
        <p:spPr>
          <a:xfrm>
            <a:off x="6934200" y="1485900"/>
            <a:ext cx="4445000" cy="1493391"/>
          </a:xfrm>
          <a:custGeom>
            <a:avLst/>
            <a:gdLst/>
            <a:ahLst/>
            <a:cxnLst/>
            <a:rect l="l" t="t" r="r" b="b"/>
            <a:pathLst>
              <a:path w="4445000" h="1493391">
                <a:moveTo>
                  <a:pt x="76200" y="1493391"/>
                </a:moveTo>
                <a:lnTo>
                  <a:pt x="76200" y="1493391"/>
                </a:lnTo>
                <a:arcTo wR="76200" hR="76200" stAng="5400000" swAng="5400000"/>
                <a:lnTo>
                  <a:pt x="0" y="76200"/>
                </a:lnTo>
                <a:arcTo wR="76200" hR="76200" stAng="10800000" swAng="5400000"/>
                <a:lnTo>
                  <a:pt x="76200" y="0"/>
                </a:lnTo>
                <a:arcTo wR="38100" hR="76200" stAng="16200000" swAng="-5400000"/>
                <a:lnTo>
                  <a:pt x="38100" y="1417191"/>
                </a:lnTo>
                <a:arcTo wR="38100" hR="76200" stAng="10800000" swAng="-5400000"/>
                <a:close/>
              </a:path>
            </a:pathLst>
          </a:custGeom>
          <a:solidFill>
            <a:srgbClr val="C2410C"/>
          </a:solidFill>
          <a:ln/>
        </p:spPr>
      </p:sp>
      <p:sp>
        <p:nvSpPr>
          <p:cNvPr id="7" name="Text 5"/>
          <p:cNvSpPr/>
          <p:nvPr/>
        </p:nvSpPr>
        <p:spPr>
          <a:xfrm>
            <a:off x="7226300" y="1714500"/>
            <a:ext cx="401586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360A"/>
                </a:solidFill>
                <a:latin typeface="IBM Plex Sans" pitchFamily="34" charset="0"/>
                <a:ea typeface="IBM Plex Sans" pitchFamily="34" charset="-122"/>
                <a:cs typeface="IBM Plex Sans" pitchFamily="34" charset="-120"/>
              </a:rPr>
              <a:t>KEY QUESTION FOR THE MVP</a:t>
            </a:r>
            <a:endParaRPr lang="en-US" sz="1200" dirty="0"/>
          </a:p>
        </p:txBody>
      </p:sp>
      <p:sp>
        <p:nvSpPr>
          <p:cNvPr id="8" name="Text 6"/>
          <p:cNvSpPr/>
          <p:nvPr/>
        </p:nvSpPr>
        <p:spPr>
          <a:xfrm>
            <a:off x="7226300" y="2004020"/>
            <a:ext cx="401586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302F"/>
                </a:solidFill>
                <a:latin typeface="IBM Plex Sans" pitchFamily="34" charset="0"/>
                <a:ea typeface="IBM Plex Sans" pitchFamily="34" charset="-122"/>
                <a:cs typeface="IBM Plex Sans" pitchFamily="34" charset="-120"/>
              </a:rPr>
              <a:t>Can a real patient find an accredited hospital, receive a quote, book and pay a deposit — entirely through the platform?</a:t>
            </a:r>
            <a:endParaRPr lang="en-US" sz="1400" dirty="0"/>
          </a:p>
        </p:txBody>
      </p:sp>
      <p:sp>
        <p:nvSpPr>
          <p:cNvPr id="9" name="Shape 7"/>
          <p:cNvSpPr/>
          <p:nvPr/>
        </p:nvSpPr>
        <p:spPr>
          <a:xfrm>
            <a:off x="815975" y="3622675"/>
            <a:ext cx="2520950" cy="1898650"/>
          </a:xfrm>
          <a:prstGeom prst="roundRect">
            <a:avLst>
              <a:gd name="adj" fmla="val 5184"/>
            </a:avLst>
          </a:prstGeom>
          <a:solidFill>
            <a:srgbClr val="FDFCF9"/>
          </a:solidFill>
          <a:ln w="6350">
            <a:solidFill>
              <a:srgbClr val="E2DED4"/>
            </a:solidFill>
            <a:prstDash val="solid"/>
          </a:ln>
        </p:spPr>
      </p:sp>
      <p:sp>
        <p:nvSpPr>
          <p:cNvPr id="10" name="Text 8"/>
          <p:cNvSpPr/>
          <p:nvPr/>
        </p:nvSpPr>
        <p:spPr>
          <a:xfrm>
            <a:off x="1022350" y="3829050"/>
            <a:ext cx="2171446"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01</a:t>
            </a:r>
            <a:endParaRPr lang="en-US" sz="3000" dirty="0"/>
          </a:p>
        </p:txBody>
      </p:sp>
      <p:sp>
        <p:nvSpPr>
          <p:cNvPr id="11" name="Text 9"/>
          <p:cNvSpPr/>
          <p:nvPr/>
        </p:nvSpPr>
        <p:spPr>
          <a:xfrm>
            <a:off x="1022350" y="429895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Access</a:t>
            </a:r>
            <a:endParaRPr lang="en-US" sz="1600" dirty="0"/>
          </a:p>
        </p:txBody>
      </p:sp>
      <p:sp>
        <p:nvSpPr>
          <p:cNvPr id="12" name="Text 10"/>
          <p:cNvSpPr/>
          <p:nvPr/>
        </p:nvSpPr>
        <p:spPr>
          <a:xfrm>
            <a:off x="1022350" y="4593580"/>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Give international patients reliable treatment at a clear cost.</a:t>
            </a:r>
            <a:endParaRPr lang="en-US" sz="1200" dirty="0"/>
          </a:p>
        </p:txBody>
      </p:sp>
      <p:sp>
        <p:nvSpPr>
          <p:cNvPr id="13" name="Shape 11"/>
          <p:cNvSpPr/>
          <p:nvPr/>
        </p:nvSpPr>
        <p:spPr>
          <a:xfrm>
            <a:off x="3495675" y="3622675"/>
            <a:ext cx="2520950" cy="1898650"/>
          </a:xfrm>
          <a:prstGeom prst="roundRect">
            <a:avLst>
              <a:gd name="adj" fmla="val 5184"/>
            </a:avLst>
          </a:prstGeom>
          <a:solidFill>
            <a:srgbClr val="FDFCF9"/>
          </a:solidFill>
          <a:ln w="6350">
            <a:solidFill>
              <a:srgbClr val="E2DED4"/>
            </a:solidFill>
            <a:prstDash val="solid"/>
          </a:ln>
        </p:spPr>
      </p:sp>
      <p:sp>
        <p:nvSpPr>
          <p:cNvPr id="14" name="Text 12"/>
          <p:cNvSpPr/>
          <p:nvPr/>
        </p:nvSpPr>
        <p:spPr>
          <a:xfrm>
            <a:off x="3702050" y="3829050"/>
            <a:ext cx="2171446"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02</a:t>
            </a:r>
            <a:endParaRPr lang="en-US" sz="3000" dirty="0"/>
          </a:p>
        </p:txBody>
      </p:sp>
      <p:sp>
        <p:nvSpPr>
          <p:cNvPr id="15" name="Text 13"/>
          <p:cNvSpPr/>
          <p:nvPr/>
        </p:nvSpPr>
        <p:spPr>
          <a:xfrm>
            <a:off x="3702050" y="429895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Growth</a:t>
            </a:r>
            <a:endParaRPr lang="en-US" sz="1600" dirty="0"/>
          </a:p>
        </p:txBody>
      </p:sp>
      <p:sp>
        <p:nvSpPr>
          <p:cNvPr id="16" name="Text 14"/>
          <p:cNvSpPr/>
          <p:nvPr/>
        </p:nvSpPr>
        <p:spPr>
          <a:xfrm>
            <a:off x="3702050" y="4593580"/>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Increase the number of international patients for hospitals and clinics.</a:t>
            </a:r>
            <a:endParaRPr lang="en-US" sz="1200" dirty="0"/>
          </a:p>
        </p:txBody>
      </p:sp>
      <p:sp>
        <p:nvSpPr>
          <p:cNvPr id="17" name="Shape 15"/>
          <p:cNvSpPr/>
          <p:nvPr/>
        </p:nvSpPr>
        <p:spPr>
          <a:xfrm>
            <a:off x="6175375" y="3622675"/>
            <a:ext cx="2520950" cy="1898650"/>
          </a:xfrm>
          <a:prstGeom prst="roundRect">
            <a:avLst>
              <a:gd name="adj" fmla="val 5184"/>
            </a:avLst>
          </a:prstGeom>
          <a:solidFill>
            <a:srgbClr val="FDFCF9"/>
          </a:solidFill>
          <a:ln w="6350">
            <a:solidFill>
              <a:srgbClr val="E2DED4"/>
            </a:solidFill>
            <a:prstDash val="solid"/>
          </a:ln>
        </p:spPr>
      </p:sp>
      <p:sp>
        <p:nvSpPr>
          <p:cNvPr id="18" name="Text 16"/>
          <p:cNvSpPr/>
          <p:nvPr/>
        </p:nvSpPr>
        <p:spPr>
          <a:xfrm>
            <a:off x="6381750" y="3829050"/>
            <a:ext cx="2171446"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03</a:t>
            </a:r>
            <a:endParaRPr lang="en-US" sz="3000" dirty="0"/>
          </a:p>
        </p:txBody>
      </p:sp>
      <p:sp>
        <p:nvSpPr>
          <p:cNvPr id="19" name="Text 17"/>
          <p:cNvSpPr/>
          <p:nvPr/>
        </p:nvSpPr>
        <p:spPr>
          <a:xfrm>
            <a:off x="6381750" y="429895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Security</a:t>
            </a:r>
            <a:endParaRPr lang="en-US" sz="1600" dirty="0"/>
          </a:p>
        </p:txBody>
      </p:sp>
      <p:sp>
        <p:nvSpPr>
          <p:cNvPr id="20" name="Text 18"/>
          <p:cNvSpPr/>
          <p:nvPr/>
        </p:nvSpPr>
        <p:spPr>
          <a:xfrm>
            <a:off x="6381750" y="4593580"/>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Exchange medical data safely, in line with health-data protection laws.</a:t>
            </a:r>
            <a:endParaRPr lang="en-US" sz="1200" dirty="0"/>
          </a:p>
        </p:txBody>
      </p:sp>
      <p:sp>
        <p:nvSpPr>
          <p:cNvPr id="21" name="Shape 19"/>
          <p:cNvSpPr/>
          <p:nvPr/>
        </p:nvSpPr>
        <p:spPr>
          <a:xfrm>
            <a:off x="8855075" y="3622675"/>
            <a:ext cx="2520950" cy="1898650"/>
          </a:xfrm>
          <a:prstGeom prst="roundRect">
            <a:avLst>
              <a:gd name="adj" fmla="val 5184"/>
            </a:avLst>
          </a:prstGeom>
          <a:solidFill>
            <a:srgbClr val="FDFCF9"/>
          </a:solidFill>
          <a:ln w="6350">
            <a:solidFill>
              <a:srgbClr val="E2DED4"/>
            </a:solidFill>
            <a:prstDash val="solid"/>
          </a:ln>
        </p:spPr>
      </p:sp>
      <p:sp>
        <p:nvSpPr>
          <p:cNvPr id="22" name="Text 20"/>
          <p:cNvSpPr/>
          <p:nvPr/>
        </p:nvSpPr>
        <p:spPr>
          <a:xfrm>
            <a:off x="9061450" y="3829050"/>
            <a:ext cx="2171446"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04</a:t>
            </a:r>
            <a:endParaRPr lang="en-US" sz="3000" dirty="0"/>
          </a:p>
        </p:txBody>
      </p:sp>
      <p:sp>
        <p:nvSpPr>
          <p:cNvPr id="23" name="Text 21"/>
          <p:cNvSpPr/>
          <p:nvPr/>
        </p:nvSpPr>
        <p:spPr>
          <a:xfrm>
            <a:off x="9061450" y="4298950"/>
            <a:ext cx="217144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Sustainability</a:t>
            </a:r>
            <a:endParaRPr lang="en-US" sz="1600" dirty="0"/>
          </a:p>
        </p:txBody>
      </p:sp>
      <p:sp>
        <p:nvSpPr>
          <p:cNvPr id="24" name="Text 22"/>
          <p:cNvSpPr/>
          <p:nvPr/>
        </p:nvSpPr>
        <p:spPr>
          <a:xfrm>
            <a:off x="9061450" y="4593580"/>
            <a:ext cx="217144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Earn platform revenue through commission on bookings and services.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The Proposed Solution</a:t>
            </a:r>
            <a:endParaRPr lang="en-US" sz="3000" dirty="0"/>
          </a:p>
        </p:txBody>
      </p:sp>
      <p:sp>
        <p:nvSpPr>
          <p:cNvPr id="3" name="Shape 1"/>
          <p:cNvSpPr/>
          <p:nvPr/>
        </p:nvSpPr>
        <p:spPr>
          <a:xfrm>
            <a:off x="815975" y="1501775"/>
            <a:ext cx="3378200" cy="1390650"/>
          </a:xfrm>
          <a:prstGeom prst="roundRect">
            <a:avLst>
              <a:gd name="adj" fmla="val 7078"/>
            </a:avLst>
          </a:prstGeom>
          <a:solidFill>
            <a:srgbClr val="FDFCF9"/>
          </a:solidFill>
          <a:ln w="6350">
            <a:solidFill>
              <a:srgbClr val="E2DED4"/>
            </a:solidFill>
            <a:prstDash val="solid"/>
          </a:ln>
        </p:spPr>
      </p:sp>
      <p:pic>
        <p:nvPicPr>
          <p:cNvPr id="4" name="Image 0" descr="Verified"/>
          <p:cNvPicPr>
            <a:picLocks noChangeAspect="1"/>
          </p:cNvPicPr>
          <p:nvPr/>
        </p:nvPicPr>
        <p:blipFill>
          <a:blip r:embed="rId3"/>
          <a:srcRect/>
          <a:stretch/>
        </p:blipFill>
        <p:spPr>
          <a:xfrm>
            <a:off x="1022350" y="1708150"/>
            <a:ext cx="254000" cy="254000"/>
          </a:xfrm>
          <a:prstGeom prst="rect">
            <a:avLst/>
          </a:prstGeom>
        </p:spPr>
      </p:pic>
      <p:sp>
        <p:nvSpPr>
          <p:cNvPr id="5" name="Text 2"/>
          <p:cNvSpPr/>
          <p:nvPr/>
        </p:nvSpPr>
        <p:spPr>
          <a:xfrm>
            <a:off x="1377950" y="1713210"/>
            <a:ext cx="199465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Verified directory</a:t>
            </a:r>
            <a:endParaRPr lang="en-US" sz="1600" dirty="0"/>
          </a:p>
        </p:txBody>
      </p:sp>
      <p:sp>
        <p:nvSpPr>
          <p:cNvPr id="6" name="Text 3"/>
          <p:cNvSpPr/>
          <p:nvPr/>
        </p:nvSpPr>
        <p:spPr>
          <a:xfrm>
            <a:off x="1022350" y="203835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Only accredited hospitals and doctors, with prices, accreditations and languages.</a:t>
            </a:r>
            <a:endParaRPr lang="en-US" sz="1200" dirty="0"/>
          </a:p>
        </p:txBody>
      </p:sp>
      <p:sp>
        <p:nvSpPr>
          <p:cNvPr id="7" name="Shape 4"/>
          <p:cNvSpPr/>
          <p:nvPr/>
        </p:nvSpPr>
        <p:spPr>
          <a:xfrm>
            <a:off x="4403725" y="1501775"/>
            <a:ext cx="3378200" cy="1390650"/>
          </a:xfrm>
          <a:prstGeom prst="roundRect">
            <a:avLst>
              <a:gd name="adj" fmla="val 7078"/>
            </a:avLst>
          </a:prstGeom>
          <a:solidFill>
            <a:srgbClr val="FDFCF9"/>
          </a:solidFill>
          <a:ln w="6350">
            <a:solidFill>
              <a:srgbClr val="E2DED4"/>
            </a:solidFill>
            <a:prstDash val="solid"/>
          </a:ln>
        </p:spPr>
      </p:sp>
      <p:pic>
        <p:nvPicPr>
          <p:cNvPr id="8" name="Image 1" descr="Lock"/>
          <p:cNvPicPr>
            <a:picLocks noChangeAspect="1"/>
          </p:cNvPicPr>
          <p:nvPr/>
        </p:nvPicPr>
        <p:blipFill>
          <a:blip r:embed="rId4"/>
          <a:srcRect/>
          <a:stretch/>
        </p:blipFill>
        <p:spPr>
          <a:xfrm>
            <a:off x="4610100" y="1708150"/>
            <a:ext cx="254000" cy="254000"/>
          </a:xfrm>
          <a:prstGeom prst="rect">
            <a:avLst/>
          </a:prstGeom>
        </p:spPr>
      </p:pic>
      <p:sp>
        <p:nvSpPr>
          <p:cNvPr id="9" name="Text 5"/>
          <p:cNvSpPr/>
          <p:nvPr/>
        </p:nvSpPr>
        <p:spPr>
          <a:xfrm>
            <a:off x="4965700" y="1713210"/>
            <a:ext cx="219045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Secure medical file</a:t>
            </a:r>
            <a:endParaRPr lang="en-US" sz="1600" dirty="0"/>
          </a:p>
        </p:txBody>
      </p:sp>
      <p:sp>
        <p:nvSpPr>
          <p:cNvPr id="10" name="Text 6"/>
          <p:cNvSpPr/>
          <p:nvPr/>
        </p:nvSpPr>
        <p:spPr>
          <a:xfrm>
            <a:off x="4610100" y="203835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Patients upload reports once, encrypted, and share them only with permission.</a:t>
            </a:r>
            <a:endParaRPr lang="en-US" sz="1200" dirty="0"/>
          </a:p>
        </p:txBody>
      </p:sp>
      <p:sp>
        <p:nvSpPr>
          <p:cNvPr id="11" name="Shape 7"/>
          <p:cNvSpPr/>
          <p:nvPr/>
        </p:nvSpPr>
        <p:spPr>
          <a:xfrm>
            <a:off x="7991475" y="1501775"/>
            <a:ext cx="3378200" cy="1390650"/>
          </a:xfrm>
          <a:prstGeom prst="roundRect">
            <a:avLst>
              <a:gd name="adj" fmla="val 7078"/>
            </a:avLst>
          </a:prstGeom>
          <a:solidFill>
            <a:srgbClr val="FDFCF9"/>
          </a:solidFill>
          <a:ln w="6350">
            <a:solidFill>
              <a:srgbClr val="E2DED4"/>
            </a:solidFill>
            <a:prstDash val="solid"/>
          </a:ln>
        </p:spPr>
      </p:sp>
      <p:pic>
        <p:nvPicPr>
          <p:cNvPr id="12" name="Image 2" descr="Chart"/>
          <p:cNvPicPr>
            <a:picLocks noChangeAspect="1"/>
          </p:cNvPicPr>
          <p:nvPr/>
        </p:nvPicPr>
        <p:blipFill>
          <a:blip r:embed="rId5"/>
          <a:srcRect/>
          <a:stretch/>
        </p:blipFill>
        <p:spPr>
          <a:xfrm>
            <a:off x="8197850" y="1708150"/>
            <a:ext cx="254000" cy="254000"/>
          </a:xfrm>
          <a:prstGeom prst="rect">
            <a:avLst/>
          </a:prstGeom>
        </p:spPr>
      </p:pic>
      <p:sp>
        <p:nvSpPr>
          <p:cNvPr id="13" name="Text 8"/>
          <p:cNvSpPr/>
          <p:nvPr/>
        </p:nvSpPr>
        <p:spPr>
          <a:xfrm>
            <a:off x="8553450" y="1713210"/>
            <a:ext cx="207508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Structured quotes</a:t>
            </a:r>
            <a:endParaRPr lang="en-US" sz="1600" dirty="0"/>
          </a:p>
        </p:txBody>
      </p:sp>
      <p:sp>
        <p:nvSpPr>
          <p:cNvPr id="14" name="Text 9"/>
          <p:cNvSpPr/>
          <p:nvPr/>
        </p:nvSpPr>
        <p:spPr>
          <a:xfrm>
            <a:off x="8197850" y="203835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Request, compare and accept itemised quotes with a clear validity period.</a:t>
            </a:r>
            <a:endParaRPr lang="en-US" sz="1200" dirty="0"/>
          </a:p>
        </p:txBody>
      </p:sp>
      <p:sp>
        <p:nvSpPr>
          <p:cNvPr id="15" name="Shape 10"/>
          <p:cNvSpPr/>
          <p:nvPr/>
        </p:nvSpPr>
        <p:spPr>
          <a:xfrm>
            <a:off x="815975" y="3051175"/>
            <a:ext cx="3378200" cy="1390650"/>
          </a:xfrm>
          <a:prstGeom prst="roundRect">
            <a:avLst>
              <a:gd name="adj" fmla="val 7078"/>
            </a:avLst>
          </a:prstGeom>
          <a:solidFill>
            <a:srgbClr val="FDFCF9"/>
          </a:solidFill>
          <a:ln w="6350">
            <a:solidFill>
              <a:srgbClr val="E2DED4"/>
            </a:solidFill>
            <a:prstDash val="solid"/>
          </a:ln>
        </p:spPr>
      </p:sp>
      <p:pic>
        <p:nvPicPr>
          <p:cNvPr id="16" name="Image 3" descr="CheckCircle"/>
          <p:cNvPicPr>
            <a:picLocks noChangeAspect="1"/>
          </p:cNvPicPr>
          <p:nvPr/>
        </p:nvPicPr>
        <p:blipFill>
          <a:blip r:embed="rId6"/>
          <a:srcRect/>
          <a:stretch/>
        </p:blipFill>
        <p:spPr>
          <a:xfrm>
            <a:off x="1022350" y="3257550"/>
            <a:ext cx="254000" cy="254000"/>
          </a:xfrm>
          <a:prstGeom prst="rect">
            <a:avLst/>
          </a:prstGeom>
        </p:spPr>
      </p:pic>
      <p:sp>
        <p:nvSpPr>
          <p:cNvPr id="17" name="Text 11"/>
          <p:cNvSpPr/>
          <p:nvPr/>
        </p:nvSpPr>
        <p:spPr>
          <a:xfrm>
            <a:off x="1377950" y="3262610"/>
            <a:ext cx="246548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Booking &amp; e-payment</a:t>
            </a:r>
            <a:endParaRPr lang="en-US" sz="1600" dirty="0"/>
          </a:p>
        </p:txBody>
      </p:sp>
      <p:sp>
        <p:nvSpPr>
          <p:cNvPr id="18" name="Text 12"/>
          <p:cNvSpPr/>
          <p:nvPr/>
        </p:nvSpPr>
        <p:spPr>
          <a:xfrm>
            <a:off x="1022350" y="358775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Bookings with online deposit payment and an official bilingual invoice.</a:t>
            </a:r>
            <a:endParaRPr lang="en-US" sz="1200" dirty="0"/>
          </a:p>
        </p:txBody>
      </p:sp>
      <p:sp>
        <p:nvSpPr>
          <p:cNvPr id="19" name="Shape 13"/>
          <p:cNvSpPr/>
          <p:nvPr/>
        </p:nvSpPr>
        <p:spPr>
          <a:xfrm>
            <a:off x="4403725" y="3051175"/>
            <a:ext cx="3378200" cy="1390650"/>
          </a:xfrm>
          <a:prstGeom prst="roundRect">
            <a:avLst>
              <a:gd name="adj" fmla="val 7078"/>
            </a:avLst>
          </a:prstGeom>
          <a:solidFill>
            <a:srgbClr val="FDFCF9"/>
          </a:solidFill>
          <a:ln w="6350">
            <a:solidFill>
              <a:srgbClr val="E2DED4"/>
            </a:solidFill>
            <a:prstDash val="solid"/>
          </a:ln>
        </p:spPr>
      </p:sp>
      <p:pic>
        <p:nvPicPr>
          <p:cNvPr id="20" name="Image 4" descr="Chat"/>
          <p:cNvPicPr>
            <a:picLocks noChangeAspect="1"/>
          </p:cNvPicPr>
          <p:nvPr/>
        </p:nvPicPr>
        <p:blipFill>
          <a:blip r:embed="rId7"/>
          <a:srcRect/>
          <a:stretch/>
        </p:blipFill>
        <p:spPr>
          <a:xfrm>
            <a:off x="4610100" y="3257550"/>
            <a:ext cx="254000" cy="254000"/>
          </a:xfrm>
          <a:prstGeom prst="rect">
            <a:avLst/>
          </a:prstGeom>
        </p:spPr>
      </p:pic>
      <p:sp>
        <p:nvSpPr>
          <p:cNvPr id="21" name="Text 14"/>
          <p:cNvSpPr/>
          <p:nvPr/>
        </p:nvSpPr>
        <p:spPr>
          <a:xfrm>
            <a:off x="4965700" y="3262610"/>
            <a:ext cx="18371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Case messaging</a:t>
            </a:r>
            <a:endParaRPr lang="en-US" sz="1600" dirty="0"/>
          </a:p>
        </p:txBody>
      </p:sp>
      <p:sp>
        <p:nvSpPr>
          <p:cNvPr id="22" name="Text 15"/>
          <p:cNvSpPr/>
          <p:nvPr/>
        </p:nvSpPr>
        <p:spPr>
          <a:xfrm>
            <a:off x="4610100" y="358775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A secure conversation per case between patient, coordinator and provider.</a:t>
            </a:r>
            <a:endParaRPr lang="en-US" sz="1200" dirty="0"/>
          </a:p>
        </p:txBody>
      </p:sp>
      <p:sp>
        <p:nvSpPr>
          <p:cNvPr id="23" name="Shape 16"/>
          <p:cNvSpPr/>
          <p:nvPr/>
        </p:nvSpPr>
        <p:spPr>
          <a:xfrm>
            <a:off x="7991475" y="3051175"/>
            <a:ext cx="3378200" cy="1390650"/>
          </a:xfrm>
          <a:prstGeom prst="roundRect">
            <a:avLst>
              <a:gd name="adj" fmla="val 7078"/>
            </a:avLst>
          </a:prstGeom>
          <a:solidFill>
            <a:srgbClr val="FDFCF9"/>
          </a:solidFill>
          <a:ln w="6350">
            <a:solidFill>
              <a:srgbClr val="E2DED4"/>
            </a:solidFill>
            <a:prstDash val="solid"/>
          </a:ln>
        </p:spPr>
      </p:sp>
      <p:pic>
        <p:nvPicPr>
          <p:cNvPr id="24" name="Image 5" descr="Globe"/>
          <p:cNvPicPr>
            <a:picLocks noChangeAspect="1"/>
          </p:cNvPicPr>
          <p:nvPr/>
        </p:nvPicPr>
        <p:blipFill>
          <a:blip r:embed="rId8"/>
          <a:srcRect/>
          <a:stretch/>
        </p:blipFill>
        <p:spPr>
          <a:xfrm>
            <a:off x="8197850" y="3257550"/>
            <a:ext cx="254000" cy="254000"/>
          </a:xfrm>
          <a:prstGeom prst="rect">
            <a:avLst/>
          </a:prstGeom>
        </p:spPr>
      </p:pic>
      <p:sp>
        <p:nvSpPr>
          <p:cNvPr id="25" name="Text 17"/>
          <p:cNvSpPr/>
          <p:nvPr/>
        </p:nvSpPr>
        <p:spPr>
          <a:xfrm>
            <a:off x="8553450" y="3262610"/>
            <a:ext cx="209532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Travel &amp; follow-up</a:t>
            </a:r>
            <a:endParaRPr lang="en-US" sz="1600" dirty="0"/>
          </a:p>
        </p:txBody>
      </p:sp>
      <p:sp>
        <p:nvSpPr>
          <p:cNvPr id="26" name="Text 18"/>
          <p:cNvSpPr/>
          <p:nvPr/>
        </p:nvSpPr>
        <p:spPr>
          <a:xfrm>
            <a:off x="8197850" y="358775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Stay, transport and post-treatment follow-up, added in later phases.</a:t>
            </a:r>
            <a:endParaRPr lang="en-US" sz="1200" dirty="0"/>
          </a:p>
        </p:txBody>
      </p:sp>
      <p:sp>
        <p:nvSpPr>
          <p:cNvPr id="27" name="Shape 19"/>
          <p:cNvSpPr/>
          <p:nvPr/>
        </p:nvSpPr>
        <p:spPr>
          <a:xfrm>
            <a:off x="812800" y="4699000"/>
            <a:ext cx="10566400" cy="853380"/>
          </a:xfrm>
          <a:prstGeom prst="roundRect">
            <a:avLst>
              <a:gd name="adj" fmla="val 11906"/>
            </a:avLst>
          </a:prstGeom>
          <a:solidFill>
            <a:srgbClr val="12302F"/>
          </a:solidFill>
          <a:ln/>
        </p:spPr>
      </p:sp>
      <p:pic>
        <p:nvPicPr>
          <p:cNvPr id="28" name="Image 6" descr="Lightbulb"/>
          <p:cNvPicPr>
            <a:picLocks noChangeAspect="1"/>
          </p:cNvPicPr>
          <p:nvPr/>
        </p:nvPicPr>
        <p:blipFill>
          <a:blip r:embed="rId9"/>
          <a:srcRect t="-588" b="-588"/>
          <a:stretch/>
        </p:blipFill>
        <p:spPr>
          <a:xfrm>
            <a:off x="1066800" y="4973290"/>
            <a:ext cx="269875" cy="304800"/>
          </a:xfrm>
          <a:prstGeom prst="rect">
            <a:avLst/>
          </a:prstGeom>
        </p:spPr>
      </p:pic>
      <p:sp>
        <p:nvSpPr>
          <p:cNvPr id="29" name="Text 20"/>
          <p:cNvSpPr/>
          <p:nvPr/>
        </p:nvSpPr>
        <p:spPr>
          <a:xfrm>
            <a:off x="1489075" y="4876800"/>
            <a:ext cx="9925209"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Why “smart”?</a:t>
            </a:r>
            <a:r>
              <a:rPr lang="en-US" sz="1400" dirty="0">
                <a:solidFill>
                  <a:srgbClr val="F6F4EF"/>
                </a:solidFill>
                <a:latin typeface="IBM Plex Sans" pitchFamily="34" charset="0"/>
                <a:ea typeface="IBM Plex Sans" pitchFamily="34" charset="-122"/>
                <a:cs typeface="IBM Plex Sans" pitchFamily="34" charset="-120"/>
              </a:rPr>
              <a:t> Later phases add AI: provider recommendations, total-cost estimation, a multilingual assistant and automatic translation.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Solution Flowchart: The Patient Journey</a:t>
            </a:r>
            <a:endParaRPr lang="en-US" sz="3000" dirty="0"/>
          </a:p>
        </p:txBody>
      </p:sp>
      <p:sp>
        <p:nvSpPr>
          <p:cNvPr id="3" name="Shape 1"/>
          <p:cNvSpPr/>
          <p:nvPr/>
        </p:nvSpPr>
        <p:spPr>
          <a:xfrm>
            <a:off x="819150" y="1784350"/>
            <a:ext cx="2247900" cy="1257300"/>
          </a:xfrm>
          <a:prstGeom prst="roundRect">
            <a:avLst>
              <a:gd name="adj" fmla="val 7576"/>
            </a:avLst>
          </a:prstGeom>
          <a:solidFill>
            <a:srgbClr val="FDFCF9"/>
          </a:solidFill>
          <a:ln w="12700">
            <a:solidFill>
              <a:srgbClr val="0F6E70"/>
            </a:solidFill>
            <a:prstDash val="solid"/>
          </a:ln>
        </p:spPr>
      </p:sp>
      <p:sp>
        <p:nvSpPr>
          <p:cNvPr id="4" name="Text 2"/>
          <p:cNvSpPr/>
          <p:nvPr/>
        </p:nvSpPr>
        <p:spPr>
          <a:xfrm>
            <a:off x="977900" y="1943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6E70"/>
                </a:solidFill>
                <a:latin typeface="IBM Plex Sans" pitchFamily="34" charset="0"/>
                <a:ea typeface="IBM Plex Sans" pitchFamily="34" charset="-122"/>
                <a:cs typeface="IBM Plex Sans" pitchFamily="34" charset="-120"/>
              </a:rPr>
              <a:t>01 · PATIENT</a:t>
            </a:r>
            <a:endParaRPr lang="en-US" sz="1200" dirty="0"/>
          </a:p>
        </p:txBody>
      </p:sp>
      <p:sp>
        <p:nvSpPr>
          <p:cNvPr id="5" name="Text 3"/>
          <p:cNvSpPr/>
          <p:nvPr/>
        </p:nvSpPr>
        <p:spPr>
          <a:xfrm>
            <a:off x="977900" y="2194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Sign up &amp; verify</a:t>
            </a:r>
            <a:endParaRPr lang="en-US" sz="1400" dirty="0"/>
          </a:p>
        </p:txBody>
      </p:sp>
      <p:sp>
        <p:nvSpPr>
          <p:cNvPr id="6" name="Text 4"/>
          <p:cNvSpPr/>
          <p:nvPr/>
        </p:nvSpPr>
        <p:spPr>
          <a:xfrm>
            <a:off x="977900" y="2445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D5C"/>
                </a:solidFill>
                <a:latin typeface="IBM Plex Sans" pitchFamily="34" charset="0"/>
                <a:ea typeface="IBM Plex Sans" pitchFamily="34" charset="-122"/>
                <a:cs typeface="IBM Plex Sans" pitchFamily="34" charset="-120"/>
              </a:rPr>
              <a:t>Email or phone, confirmed by OTP</a:t>
            </a:r>
            <a:endParaRPr lang="en-US" sz="1200" dirty="0"/>
          </a:p>
        </p:txBody>
      </p:sp>
      <p:pic>
        <p:nvPicPr>
          <p:cNvPr id="7" name="Image 0" descr="connector"/>
          <p:cNvPicPr>
            <a:picLocks noChangeAspect="1"/>
          </p:cNvPicPr>
          <p:nvPr/>
        </p:nvPicPr>
        <p:blipFill>
          <a:blip r:embed="rId3"/>
          <a:srcRect/>
          <a:stretch/>
        </p:blipFill>
        <p:spPr>
          <a:xfrm>
            <a:off x="3022600" y="2362200"/>
            <a:ext cx="609600" cy="101600"/>
          </a:xfrm>
          <a:prstGeom prst="rect">
            <a:avLst/>
          </a:prstGeom>
        </p:spPr>
      </p:pic>
      <p:sp>
        <p:nvSpPr>
          <p:cNvPr id="8" name="Shape 5"/>
          <p:cNvSpPr/>
          <p:nvPr/>
        </p:nvSpPr>
        <p:spPr>
          <a:xfrm>
            <a:off x="3587750" y="1784350"/>
            <a:ext cx="2247900" cy="1257300"/>
          </a:xfrm>
          <a:prstGeom prst="roundRect">
            <a:avLst>
              <a:gd name="adj" fmla="val 7576"/>
            </a:avLst>
          </a:prstGeom>
          <a:solidFill>
            <a:srgbClr val="FDFCF9"/>
          </a:solidFill>
          <a:ln w="12700">
            <a:solidFill>
              <a:srgbClr val="0F6E70"/>
            </a:solidFill>
            <a:prstDash val="solid"/>
          </a:ln>
        </p:spPr>
      </p:sp>
      <p:sp>
        <p:nvSpPr>
          <p:cNvPr id="9" name="Text 6"/>
          <p:cNvSpPr/>
          <p:nvPr/>
        </p:nvSpPr>
        <p:spPr>
          <a:xfrm>
            <a:off x="3746500" y="1943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6E70"/>
                </a:solidFill>
                <a:latin typeface="IBM Plex Sans" pitchFamily="34" charset="0"/>
                <a:ea typeface="IBM Plex Sans" pitchFamily="34" charset="-122"/>
                <a:cs typeface="IBM Plex Sans" pitchFamily="34" charset="-120"/>
              </a:rPr>
              <a:t>02 · PATIENT</a:t>
            </a:r>
            <a:endParaRPr lang="en-US" sz="1200" dirty="0"/>
          </a:p>
        </p:txBody>
      </p:sp>
      <p:sp>
        <p:nvSpPr>
          <p:cNvPr id="10" name="Text 7"/>
          <p:cNvSpPr/>
          <p:nvPr/>
        </p:nvSpPr>
        <p:spPr>
          <a:xfrm>
            <a:off x="3746500" y="2194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Medical profile</a:t>
            </a:r>
            <a:endParaRPr lang="en-US" sz="1400" dirty="0"/>
          </a:p>
        </p:txBody>
      </p:sp>
      <p:sp>
        <p:nvSpPr>
          <p:cNvPr id="11" name="Text 8"/>
          <p:cNvSpPr/>
          <p:nvPr/>
        </p:nvSpPr>
        <p:spPr>
          <a:xfrm>
            <a:off x="3746500" y="2445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D5C"/>
                </a:solidFill>
                <a:latin typeface="IBM Plex Sans" pitchFamily="34" charset="0"/>
                <a:ea typeface="IBM Plex Sans" pitchFamily="34" charset="-122"/>
                <a:cs typeface="IBM Plex Sans" pitchFamily="34" charset="-120"/>
              </a:rPr>
              <a:t>History and secure document upload</a:t>
            </a:r>
            <a:endParaRPr lang="en-US" sz="1200" dirty="0"/>
          </a:p>
        </p:txBody>
      </p:sp>
      <p:pic>
        <p:nvPicPr>
          <p:cNvPr id="12" name="Image 1" descr="connector"/>
          <p:cNvPicPr>
            <a:picLocks noChangeAspect="1"/>
          </p:cNvPicPr>
          <p:nvPr/>
        </p:nvPicPr>
        <p:blipFill>
          <a:blip r:embed="rId3"/>
          <a:srcRect/>
          <a:stretch/>
        </p:blipFill>
        <p:spPr>
          <a:xfrm>
            <a:off x="5791200" y="2362200"/>
            <a:ext cx="609600" cy="101600"/>
          </a:xfrm>
          <a:prstGeom prst="rect">
            <a:avLst/>
          </a:prstGeom>
        </p:spPr>
      </p:pic>
      <p:sp>
        <p:nvSpPr>
          <p:cNvPr id="13" name="Shape 9"/>
          <p:cNvSpPr/>
          <p:nvPr/>
        </p:nvSpPr>
        <p:spPr>
          <a:xfrm>
            <a:off x="6356350" y="1784350"/>
            <a:ext cx="2247900" cy="1257300"/>
          </a:xfrm>
          <a:prstGeom prst="roundRect">
            <a:avLst>
              <a:gd name="adj" fmla="val 7576"/>
            </a:avLst>
          </a:prstGeom>
          <a:solidFill>
            <a:srgbClr val="FDFCF9"/>
          </a:solidFill>
          <a:ln w="12700">
            <a:solidFill>
              <a:srgbClr val="0F6E70"/>
            </a:solidFill>
            <a:prstDash val="solid"/>
          </a:ln>
        </p:spPr>
      </p:sp>
      <p:sp>
        <p:nvSpPr>
          <p:cNvPr id="14" name="Text 10"/>
          <p:cNvSpPr/>
          <p:nvPr/>
        </p:nvSpPr>
        <p:spPr>
          <a:xfrm>
            <a:off x="6515100" y="1943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6E70"/>
                </a:solidFill>
                <a:latin typeface="IBM Plex Sans" pitchFamily="34" charset="0"/>
                <a:ea typeface="IBM Plex Sans" pitchFamily="34" charset="-122"/>
                <a:cs typeface="IBM Plex Sans" pitchFamily="34" charset="-120"/>
              </a:rPr>
              <a:t>03 · PATIENT</a:t>
            </a:r>
            <a:endParaRPr lang="en-US" sz="1200" dirty="0"/>
          </a:p>
        </p:txBody>
      </p:sp>
      <p:sp>
        <p:nvSpPr>
          <p:cNvPr id="15" name="Text 11"/>
          <p:cNvSpPr/>
          <p:nvPr/>
        </p:nvSpPr>
        <p:spPr>
          <a:xfrm>
            <a:off x="6515100" y="2194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Search &amp; compare</a:t>
            </a:r>
            <a:endParaRPr lang="en-US" sz="1400" dirty="0"/>
          </a:p>
        </p:txBody>
      </p:sp>
      <p:sp>
        <p:nvSpPr>
          <p:cNvPr id="16" name="Text 12"/>
          <p:cNvSpPr/>
          <p:nvPr/>
        </p:nvSpPr>
        <p:spPr>
          <a:xfrm>
            <a:off x="6515100" y="2445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D5C"/>
                </a:solidFill>
                <a:latin typeface="IBM Plex Sans" pitchFamily="34" charset="0"/>
                <a:ea typeface="IBM Plex Sans" pitchFamily="34" charset="-122"/>
                <a:cs typeface="IBM Plex Sans" pitchFamily="34" charset="-120"/>
              </a:rPr>
              <a:t>Verified hospitals, doctors and price ranges</a:t>
            </a:r>
            <a:endParaRPr lang="en-US" sz="1200" dirty="0"/>
          </a:p>
        </p:txBody>
      </p:sp>
      <p:pic>
        <p:nvPicPr>
          <p:cNvPr id="17" name="Image 2" descr="connector"/>
          <p:cNvPicPr>
            <a:picLocks noChangeAspect="1"/>
          </p:cNvPicPr>
          <p:nvPr/>
        </p:nvPicPr>
        <p:blipFill>
          <a:blip r:embed="rId3"/>
          <a:srcRect/>
          <a:stretch/>
        </p:blipFill>
        <p:spPr>
          <a:xfrm>
            <a:off x="8559800" y="2362200"/>
            <a:ext cx="609600" cy="101600"/>
          </a:xfrm>
          <a:prstGeom prst="rect">
            <a:avLst/>
          </a:prstGeom>
        </p:spPr>
      </p:pic>
      <p:sp>
        <p:nvSpPr>
          <p:cNvPr id="18" name="Shape 13"/>
          <p:cNvSpPr/>
          <p:nvPr/>
        </p:nvSpPr>
        <p:spPr>
          <a:xfrm>
            <a:off x="9124950" y="1784350"/>
            <a:ext cx="2247900" cy="1257300"/>
          </a:xfrm>
          <a:prstGeom prst="roundRect">
            <a:avLst>
              <a:gd name="adj" fmla="val 7576"/>
            </a:avLst>
          </a:prstGeom>
          <a:solidFill>
            <a:srgbClr val="FDFCF9"/>
          </a:solidFill>
          <a:ln w="12700">
            <a:solidFill>
              <a:srgbClr val="0F6E70"/>
            </a:solidFill>
            <a:prstDash val="solid"/>
          </a:ln>
        </p:spPr>
      </p:sp>
      <p:sp>
        <p:nvSpPr>
          <p:cNvPr id="19" name="Text 14"/>
          <p:cNvSpPr/>
          <p:nvPr/>
        </p:nvSpPr>
        <p:spPr>
          <a:xfrm>
            <a:off x="9283700" y="1943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6E70"/>
                </a:solidFill>
                <a:latin typeface="IBM Plex Sans" pitchFamily="34" charset="0"/>
                <a:ea typeface="IBM Plex Sans" pitchFamily="34" charset="-122"/>
                <a:cs typeface="IBM Plex Sans" pitchFamily="34" charset="-120"/>
              </a:rPr>
              <a:t>04 · PATIENT</a:t>
            </a:r>
            <a:endParaRPr lang="en-US" sz="1200" dirty="0"/>
          </a:p>
        </p:txBody>
      </p:sp>
      <p:sp>
        <p:nvSpPr>
          <p:cNvPr id="20" name="Text 15"/>
          <p:cNvSpPr/>
          <p:nvPr/>
        </p:nvSpPr>
        <p:spPr>
          <a:xfrm>
            <a:off x="9283700" y="2194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Send inquiry</a:t>
            </a:r>
            <a:endParaRPr lang="en-US" sz="1400" dirty="0"/>
          </a:p>
        </p:txBody>
      </p:sp>
      <p:sp>
        <p:nvSpPr>
          <p:cNvPr id="21" name="Text 16"/>
          <p:cNvSpPr/>
          <p:nvPr/>
        </p:nvSpPr>
        <p:spPr>
          <a:xfrm>
            <a:off x="9283700" y="2445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D5C"/>
                </a:solidFill>
                <a:latin typeface="IBM Plex Sans" pitchFamily="34" charset="0"/>
                <a:ea typeface="IBM Plex Sans" pitchFamily="34" charset="-122"/>
                <a:cs typeface="IBM Plex Sans" pitchFamily="34" charset="-120"/>
              </a:rPr>
              <a:t>Case and chosen documents go to providers</a:t>
            </a:r>
            <a:endParaRPr lang="en-US" sz="1200" dirty="0"/>
          </a:p>
        </p:txBody>
      </p:sp>
      <p:pic>
        <p:nvPicPr>
          <p:cNvPr id="22" name="Image 3" descr="connector"/>
          <p:cNvPicPr>
            <a:picLocks noChangeAspect="1"/>
          </p:cNvPicPr>
          <p:nvPr/>
        </p:nvPicPr>
        <p:blipFill>
          <a:blip r:embed="rId4"/>
          <a:srcRect/>
          <a:stretch/>
        </p:blipFill>
        <p:spPr>
          <a:xfrm>
            <a:off x="10198100" y="2997200"/>
            <a:ext cx="101600" cy="1117600"/>
          </a:xfrm>
          <a:prstGeom prst="rect">
            <a:avLst/>
          </a:prstGeom>
        </p:spPr>
      </p:pic>
      <p:sp>
        <p:nvSpPr>
          <p:cNvPr id="23" name="Shape 17"/>
          <p:cNvSpPr/>
          <p:nvPr/>
        </p:nvSpPr>
        <p:spPr>
          <a:xfrm>
            <a:off x="9124950" y="4070350"/>
            <a:ext cx="2247900" cy="1257300"/>
          </a:xfrm>
          <a:prstGeom prst="roundRect">
            <a:avLst>
              <a:gd name="adj" fmla="val 7576"/>
            </a:avLst>
          </a:prstGeom>
          <a:solidFill>
            <a:srgbClr val="FDFCF9"/>
          </a:solidFill>
          <a:ln w="12700">
            <a:solidFill>
              <a:srgbClr val="C2410C"/>
            </a:solidFill>
            <a:prstDash val="solid"/>
          </a:ln>
        </p:spPr>
      </p:sp>
      <p:sp>
        <p:nvSpPr>
          <p:cNvPr id="24" name="Text 18"/>
          <p:cNvSpPr/>
          <p:nvPr/>
        </p:nvSpPr>
        <p:spPr>
          <a:xfrm>
            <a:off x="9283700" y="4229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3360A"/>
                </a:solidFill>
                <a:latin typeface="IBM Plex Sans" pitchFamily="34" charset="0"/>
                <a:ea typeface="IBM Plex Sans" pitchFamily="34" charset="-122"/>
                <a:cs typeface="IBM Plex Sans" pitchFamily="34" charset="-120"/>
              </a:rPr>
              <a:t>05 · PROVIDER</a:t>
            </a:r>
            <a:endParaRPr lang="en-US" sz="1200" dirty="0"/>
          </a:p>
        </p:txBody>
      </p:sp>
      <p:sp>
        <p:nvSpPr>
          <p:cNvPr id="25" name="Text 19"/>
          <p:cNvSpPr/>
          <p:nvPr/>
        </p:nvSpPr>
        <p:spPr>
          <a:xfrm>
            <a:off x="9283700" y="4480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Itemised quote</a:t>
            </a:r>
            <a:endParaRPr lang="en-US" sz="1400" dirty="0"/>
          </a:p>
        </p:txBody>
      </p:sp>
      <p:sp>
        <p:nvSpPr>
          <p:cNvPr id="26" name="Text 20"/>
          <p:cNvSpPr/>
          <p:nvPr/>
        </p:nvSpPr>
        <p:spPr>
          <a:xfrm>
            <a:off x="9283700" y="4731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D5C"/>
                </a:solidFill>
                <a:latin typeface="IBM Plex Sans" pitchFamily="34" charset="0"/>
                <a:ea typeface="IBM Plex Sans" pitchFamily="34" charset="-122"/>
                <a:cs typeface="IBM Plex Sans" pitchFamily="34" charset="-120"/>
              </a:rPr>
              <a:t>Reviews the case, prices it with validity</a:t>
            </a:r>
            <a:endParaRPr lang="en-US" sz="1200" dirty="0"/>
          </a:p>
        </p:txBody>
      </p:sp>
      <p:pic>
        <p:nvPicPr>
          <p:cNvPr id="27" name="Image 4" descr="connector"/>
          <p:cNvPicPr>
            <a:picLocks noChangeAspect="1"/>
          </p:cNvPicPr>
          <p:nvPr/>
        </p:nvPicPr>
        <p:blipFill>
          <a:blip r:embed="rId5"/>
          <a:srcRect/>
          <a:stretch/>
        </p:blipFill>
        <p:spPr>
          <a:xfrm>
            <a:off x="8382000" y="4648200"/>
            <a:ext cx="787400" cy="101600"/>
          </a:xfrm>
          <a:prstGeom prst="rect">
            <a:avLst/>
          </a:prstGeom>
        </p:spPr>
      </p:pic>
      <p:pic>
        <p:nvPicPr>
          <p:cNvPr id="28" name="Image 5" descr="diamond"/>
          <p:cNvPicPr>
            <a:picLocks noChangeAspect="1"/>
          </p:cNvPicPr>
          <p:nvPr/>
        </p:nvPicPr>
        <p:blipFill>
          <a:blip r:embed="rId6"/>
          <a:srcRect/>
          <a:stretch/>
        </p:blipFill>
        <p:spPr>
          <a:xfrm>
            <a:off x="6527800" y="3937000"/>
            <a:ext cx="1905000" cy="1524000"/>
          </a:xfrm>
          <a:prstGeom prst="rect">
            <a:avLst/>
          </a:prstGeom>
        </p:spPr>
      </p:pic>
      <p:sp>
        <p:nvSpPr>
          <p:cNvPr id="29" name="Text 21"/>
          <p:cNvSpPr/>
          <p:nvPr/>
        </p:nvSpPr>
        <p:spPr>
          <a:xfrm>
            <a:off x="6819900" y="4425950"/>
            <a:ext cx="1320800"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17302F"/>
                </a:solidFill>
                <a:latin typeface="IBM Plex Sans" pitchFamily="34" charset="0"/>
                <a:ea typeface="IBM Plex Sans" pitchFamily="34" charset="-122"/>
                <a:cs typeface="IBM Plex Sans" pitchFamily="34" charset="-120"/>
              </a:rPr>
              <a:t>Patient accepts the quote?</a:t>
            </a:r>
            <a:endParaRPr lang="en-US" sz="1200" dirty="0"/>
          </a:p>
        </p:txBody>
      </p:sp>
      <p:pic>
        <p:nvPicPr>
          <p:cNvPr id="30" name="Image 6" descr="connector"/>
          <p:cNvPicPr>
            <a:picLocks noChangeAspect="1"/>
          </p:cNvPicPr>
          <p:nvPr/>
        </p:nvPicPr>
        <p:blipFill>
          <a:blip r:embed="rId7"/>
          <a:srcRect/>
          <a:stretch/>
        </p:blipFill>
        <p:spPr>
          <a:xfrm>
            <a:off x="7429500" y="2997200"/>
            <a:ext cx="101600" cy="990600"/>
          </a:xfrm>
          <a:prstGeom prst="rect">
            <a:avLst/>
          </a:prstGeom>
        </p:spPr>
      </p:pic>
      <p:sp>
        <p:nvSpPr>
          <p:cNvPr id="31" name="Text 22"/>
          <p:cNvSpPr/>
          <p:nvPr/>
        </p:nvSpPr>
        <p:spPr>
          <a:xfrm>
            <a:off x="7581900" y="3390900"/>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360A"/>
                </a:solidFill>
                <a:latin typeface="IBM Plex Sans" pitchFamily="34" charset="0"/>
                <a:ea typeface="IBM Plex Sans" pitchFamily="34" charset="-122"/>
                <a:cs typeface="IBM Plex Sans" pitchFamily="34" charset="-120"/>
              </a:rPr>
              <a:t>No — choose another offer</a:t>
            </a:r>
            <a:endParaRPr lang="en-US" sz="1200" dirty="0"/>
          </a:p>
        </p:txBody>
      </p:sp>
      <p:pic>
        <p:nvPicPr>
          <p:cNvPr id="32" name="Image 7" descr="connector"/>
          <p:cNvPicPr>
            <a:picLocks noChangeAspect="1"/>
          </p:cNvPicPr>
          <p:nvPr/>
        </p:nvPicPr>
        <p:blipFill>
          <a:blip r:embed="rId8"/>
          <a:srcRect/>
          <a:stretch/>
        </p:blipFill>
        <p:spPr>
          <a:xfrm>
            <a:off x="5791200" y="4648200"/>
            <a:ext cx="787400" cy="101600"/>
          </a:xfrm>
          <a:prstGeom prst="rect">
            <a:avLst/>
          </a:prstGeom>
        </p:spPr>
      </p:pic>
      <p:sp>
        <p:nvSpPr>
          <p:cNvPr id="33" name="Text 23"/>
          <p:cNvSpPr/>
          <p:nvPr/>
        </p:nvSpPr>
        <p:spPr>
          <a:xfrm>
            <a:off x="5905500" y="4419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6E70"/>
                </a:solidFill>
                <a:latin typeface="IBM Plex Sans" pitchFamily="34" charset="0"/>
                <a:ea typeface="IBM Plex Sans" pitchFamily="34" charset="-122"/>
                <a:cs typeface="IBM Plex Sans" pitchFamily="34" charset="-120"/>
              </a:rPr>
              <a:t>Yes</a:t>
            </a:r>
            <a:endParaRPr lang="en-US" sz="1200" dirty="0"/>
          </a:p>
        </p:txBody>
      </p:sp>
      <p:sp>
        <p:nvSpPr>
          <p:cNvPr id="34" name="Shape 24"/>
          <p:cNvSpPr/>
          <p:nvPr/>
        </p:nvSpPr>
        <p:spPr>
          <a:xfrm>
            <a:off x="3587750" y="4070350"/>
            <a:ext cx="2247900" cy="1257300"/>
          </a:xfrm>
          <a:prstGeom prst="roundRect">
            <a:avLst>
              <a:gd name="adj" fmla="val 7576"/>
            </a:avLst>
          </a:prstGeom>
          <a:solidFill>
            <a:srgbClr val="FDFCF9"/>
          </a:solidFill>
          <a:ln w="12700">
            <a:solidFill>
              <a:srgbClr val="0F6E70"/>
            </a:solidFill>
            <a:prstDash val="solid"/>
          </a:ln>
        </p:spPr>
      </p:sp>
      <p:sp>
        <p:nvSpPr>
          <p:cNvPr id="35" name="Text 25"/>
          <p:cNvSpPr/>
          <p:nvPr/>
        </p:nvSpPr>
        <p:spPr>
          <a:xfrm>
            <a:off x="3746500" y="4229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6E70"/>
                </a:solidFill>
                <a:latin typeface="IBM Plex Sans" pitchFamily="34" charset="0"/>
                <a:ea typeface="IBM Plex Sans" pitchFamily="34" charset="-122"/>
                <a:cs typeface="IBM Plex Sans" pitchFamily="34" charset="-120"/>
              </a:rPr>
              <a:t>06 · PATIENT</a:t>
            </a:r>
            <a:endParaRPr lang="en-US" sz="1200" dirty="0"/>
          </a:p>
        </p:txBody>
      </p:sp>
      <p:sp>
        <p:nvSpPr>
          <p:cNvPr id="36" name="Text 26"/>
          <p:cNvSpPr/>
          <p:nvPr/>
        </p:nvSpPr>
        <p:spPr>
          <a:xfrm>
            <a:off x="3746500" y="4480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Book &amp; pay deposit</a:t>
            </a:r>
            <a:endParaRPr lang="en-US" sz="1400" dirty="0"/>
          </a:p>
        </p:txBody>
      </p:sp>
      <p:sp>
        <p:nvSpPr>
          <p:cNvPr id="37" name="Text 27"/>
          <p:cNvSpPr/>
          <p:nvPr/>
        </p:nvSpPr>
        <p:spPr>
          <a:xfrm>
            <a:off x="3746500" y="4731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D5C"/>
                </a:solidFill>
                <a:latin typeface="IBM Plex Sans" pitchFamily="34" charset="0"/>
                <a:ea typeface="IBM Plex Sans" pitchFamily="34" charset="-122"/>
                <a:cs typeface="IBM Plex Sans" pitchFamily="34" charset="-120"/>
              </a:rPr>
              <a:t>Online payment and bilingual PDF invoice</a:t>
            </a:r>
            <a:endParaRPr lang="en-US" sz="1200" dirty="0"/>
          </a:p>
        </p:txBody>
      </p:sp>
      <p:pic>
        <p:nvPicPr>
          <p:cNvPr id="38" name="Image 8" descr="connector"/>
          <p:cNvPicPr>
            <a:picLocks noChangeAspect="1"/>
          </p:cNvPicPr>
          <p:nvPr/>
        </p:nvPicPr>
        <p:blipFill>
          <a:blip r:embed="rId9"/>
          <a:srcRect/>
          <a:stretch/>
        </p:blipFill>
        <p:spPr>
          <a:xfrm>
            <a:off x="3022600" y="4648200"/>
            <a:ext cx="609600" cy="101600"/>
          </a:xfrm>
          <a:prstGeom prst="rect">
            <a:avLst/>
          </a:prstGeom>
        </p:spPr>
      </p:pic>
      <p:sp>
        <p:nvSpPr>
          <p:cNvPr id="39" name="Shape 28"/>
          <p:cNvSpPr/>
          <p:nvPr/>
        </p:nvSpPr>
        <p:spPr>
          <a:xfrm>
            <a:off x="819150" y="4070350"/>
            <a:ext cx="2247900" cy="1257300"/>
          </a:xfrm>
          <a:prstGeom prst="roundRect">
            <a:avLst>
              <a:gd name="adj" fmla="val 7576"/>
            </a:avLst>
          </a:prstGeom>
          <a:solidFill>
            <a:srgbClr val="12302F"/>
          </a:solidFill>
          <a:ln w="12700">
            <a:solidFill>
              <a:srgbClr val="12302F"/>
            </a:solidFill>
            <a:prstDash val="solid"/>
          </a:ln>
        </p:spPr>
      </p:sp>
      <p:sp>
        <p:nvSpPr>
          <p:cNvPr id="40" name="Text 29"/>
          <p:cNvSpPr/>
          <p:nvPr/>
        </p:nvSpPr>
        <p:spPr>
          <a:xfrm>
            <a:off x="977900" y="422910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C9C4"/>
                </a:solidFill>
                <a:latin typeface="IBM Plex Sans" pitchFamily="34" charset="0"/>
                <a:ea typeface="IBM Plex Sans" pitchFamily="34" charset="-122"/>
                <a:cs typeface="IBM Plex Sans" pitchFamily="34" charset="-120"/>
              </a:rPr>
              <a:t>07 · COORDINATOR</a:t>
            </a:r>
            <a:endParaRPr lang="en-US" sz="1200" dirty="0"/>
          </a:p>
        </p:txBody>
      </p:sp>
      <p:sp>
        <p:nvSpPr>
          <p:cNvPr id="41" name="Text 30"/>
          <p:cNvSpPr/>
          <p:nvPr/>
        </p:nvSpPr>
        <p:spPr>
          <a:xfrm>
            <a:off x="977900" y="4480520"/>
            <a:ext cx="19883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4EF"/>
                </a:solidFill>
                <a:latin typeface="IBM Plex Sans" pitchFamily="34" charset="0"/>
                <a:ea typeface="IBM Plex Sans" pitchFamily="34" charset="-122"/>
                <a:cs typeface="IBM Plex Sans" pitchFamily="34" charset="-120"/>
              </a:rPr>
              <a:t>Treatment</a:t>
            </a:r>
            <a:endParaRPr lang="en-US" sz="1400" dirty="0"/>
          </a:p>
        </p:txBody>
      </p:sp>
      <p:sp>
        <p:nvSpPr>
          <p:cNvPr id="42" name="Text 31"/>
          <p:cNvSpPr/>
          <p:nvPr/>
        </p:nvSpPr>
        <p:spPr>
          <a:xfrm>
            <a:off x="977900" y="4731941"/>
            <a:ext cx="1988312"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C9DAD8"/>
                </a:solidFill>
                <a:latin typeface="IBM Plex Sans" pitchFamily="34" charset="0"/>
                <a:ea typeface="IBM Plex Sans" pitchFamily="34" charset="-122"/>
                <a:cs typeface="IBM Plex Sans" pitchFamily="34" charset="-120"/>
              </a:rPr>
              <a:t>Case followed through stay and follow-up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System Architecture &amp; Technologies</a:t>
            </a:r>
            <a:endParaRPr lang="en-US" sz="3000" dirty="0"/>
          </a:p>
        </p:txBody>
      </p:sp>
      <p:sp>
        <p:nvSpPr>
          <p:cNvPr id="3" name="Shape 1"/>
          <p:cNvSpPr/>
          <p:nvPr/>
        </p:nvSpPr>
        <p:spPr>
          <a:xfrm>
            <a:off x="815975" y="1590675"/>
            <a:ext cx="4057650" cy="2279650"/>
          </a:xfrm>
          <a:prstGeom prst="roundRect">
            <a:avLst>
              <a:gd name="adj" fmla="val 4318"/>
            </a:avLst>
          </a:prstGeom>
          <a:solidFill>
            <a:srgbClr val="FDFCF9"/>
          </a:solidFill>
          <a:ln w="6350">
            <a:solidFill>
              <a:srgbClr val="E2DED4"/>
            </a:solidFill>
            <a:prstDash val="solid"/>
          </a:ln>
        </p:spPr>
      </p:sp>
      <p:sp>
        <p:nvSpPr>
          <p:cNvPr id="4" name="Text 2"/>
          <p:cNvSpPr/>
          <p:nvPr/>
        </p:nvSpPr>
        <p:spPr>
          <a:xfrm>
            <a:off x="1047750" y="1822450"/>
            <a:ext cx="370192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6E70"/>
                </a:solidFill>
                <a:latin typeface="IBM Plex Sans" pitchFamily="34" charset="0"/>
                <a:ea typeface="IBM Plex Sans" pitchFamily="34" charset="-122"/>
                <a:cs typeface="IBM Plex Sans" pitchFamily="34" charset="-120"/>
              </a:rPr>
              <a:t>FRONTEND</a:t>
            </a:r>
            <a:endParaRPr lang="en-US" sz="1200" dirty="0"/>
          </a:p>
        </p:txBody>
      </p:sp>
      <p:sp>
        <p:nvSpPr>
          <p:cNvPr id="5" name="Text 3"/>
          <p:cNvSpPr/>
          <p:nvPr/>
        </p:nvSpPr>
        <p:spPr>
          <a:xfrm>
            <a:off x="1047750" y="2111970"/>
            <a:ext cx="370192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React + TypeScript</a:t>
            </a:r>
            <a:endParaRPr lang="en-US" sz="1600" dirty="0"/>
          </a:p>
        </p:txBody>
      </p:sp>
      <p:sp>
        <p:nvSpPr>
          <p:cNvPr id="6" name="Text 4"/>
          <p:cNvSpPr/>
          <p:nvPr/>
        </p:nvSpPr>
        <p:spPr>
          <a:xfrm>
            <a:off x="1146556" y="2432000"/>
            <a:ext cx="3595497" cy="11684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Three portals: Patient, Provider, Admin</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Vite build and React Router</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TanStack Query for data fetching</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i18next: Arabic / English with RTL</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Tailwind CSS for styling</a:t>
            </a:r>
            <a:endParaRPr lang="en-US" sz="1200" dirty="0"/>
          </a:p>
        </p:txBody>
      </p:sp>
      <p:pic>
        <p:nvPicPr>
          <p:cNvPr id="7" name="Image 0" descr="arrow-right"/>
          <p:cNvPicPr>
            <a:picLocks noChangeAspect="1"/>
          </p:cNvPicPr>
          <p:nvPr/>
        </p:nvPicPr>
        <p:blipFill>
          <a:blip r:embed="rId3"/>
          <a:srcRect/>
          <a:stretch/>
        </p:blipFill>
        <p:spPr>
          <a:xfrm>
            <a:off x="5524500" y="1889770"/>
            <a:ext cx="1143000" cy="457200"/>
          </a:xfrm>
          <a:prstGeom prst="rect">
            <a:avLst/>
          </a:prstGeom>
        </p:spPr>
      </p:pic>
      <p:sp>
        <p:nvSpPr>
          <p:cNvPr id="8" name="Text 5"/>
          <p:cNvSpPr/>
          <p:nvPr/>
        </p:nvSpPr>
        <p:spPr>
          <a:xfrm>
            <a:off x="5618564" y="2448570"/>
            <a:ext cx="954822"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7302F"/>
                </a:solidFill>
                <a:latin typeface="IBM Plex Sans" pitchFamily="34" charset="0"/>
                <a:ea typeface="IBM Plex Sans" pitchFamily="34" charset="-122"/>
                <a:cs typeface="IBM Plex Sans" pitchFamily="34" charset="-120"/>
              </a:rPr>
              <a:t>REST API</a:t>
            </a:r>
            <a:endParaRPr lang="en-US" sz="1400" dirty="0"/>
          </a:p>
        </p:txBody>
      </p:sp>
      <p:sp>
        <p:nvSpPr>
          <p:cNvPr id="9" name="Text 6"/>
          <p:cNvSpPr/>
          <p:nvPr/>
        </p:nvSpPr>
        <p:spPr>
          <a:xfrm>
            <a:off x="5378892" y="2799060"/>
            <a:ext cx="143416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C5D5C"/>
                </a:solidFill>
                <a:latin typeface="IBM Plex Sans" pitchFamily="34" charset="0"/>
                <a:ea typeface="IBM Plex Sans" pitchFamily="34" charset="-122"/>
                <a:cs typeface="IBM Plex Sans" pitchFamily="34" charset="-120"/>
              </a:rPr>
              <a:t>versioned /api/v1</a:t>
            </a:r>
            <a:endParaRPr lang="en-US" sz="1200" dirty="0"/>
          </a:p>
        </p:txBody>
      </p:sp>
      <p:pic>
        <p:nvPicPr>
          <p:cNvPr id="10" name="Image 1" descr="arrow-left"/>
          <p:cNvPicPr>
            <a:picLocks noChangeAspect="1"/>
          </p:cNvPicPr>
          <p:nvPr/>
        </p:nvPicPr>
        <p:blipFill>
          <a:blip r:embed="rId4"/>
          <a:srcRect/>
          <a:stretch/>
        </p:blipFill>
        <p:spPr>
          <a:xfrm>
            <a:off x="5524500" y="3113980"/>
            <a:ext cx="1143000" cy="457200"/>
          </a:xfrm>
          <a:prstGeom prst="rect">
            <a:avLst/>
          </a:prstGeom>
        </p:spPr>
      </p:pic>
      <p:sp>
        <p:nvSpPr>
          <p:cNvPr id="11" name="Shape 7"/>
          <p:cNvSpPr/>
          <p:nvPr/>
        </p:nvSpPr>
        <p:spPr>
          <a:xfrm>
            <a:off x="7318375" y="1590675"/>
            <a:ext cx="4057650" cy="2279650"/>
          </a:xfrm>
          <a:prstGeom prst="roundRect">
            <a:avLst>
              <a:gd name="adj" fmla="val 4318"/>
            </a:avLst>
          </a:prstGeom>
          <a:solidFill>
            <a:srgbClr val="FDFCF9"/>
          </a:solidFill>
          <a:ln w="6350">
            <a:solidFill>
              <a:srgbClr val="E2DED4"/>
            </a:solidFill>
            <a:prstDash val="solid"/>
          </a:ln>
        </p:spPr>
      </p:sp>
      <p:sp>
        <p:nvSpPr>
          <p:cNvPr id="12" name="Text 8"/>
          <p:cNvSpPr/>
          <p:nvPr/>
        </p:nvSpPr>
        <p:spPr>
          <a:xfrm>
            <a:off x="7550150" y="1822450"/>
            <a:ext cx="370192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6E70"/>
                </a:solidFill>
                <a:latin typeface="IBM Plex Sans" pitchFamily="34" charset="0"/>
                <a:ea typeface="IBM Plex Sans" pitchFamily="34" charset="-122"/>
                <a:cs typeface="IBM Plex Sans" pitchFamily="34" charset="-120"/>
              </a:rPr>
              <a:t>BACKEND</a:t>
            </a:r>
            <a:endParaRPr lang="en-US" sz="1200" dirty="0"/>
          </a:p>
        </p:txBody>
      </p:sp>
      <p:sp>
        <p:nvSpPr>
          <p:cNvPr id="13" name="Text 9"/>
          <p:cNvSpPr/>
          <p:nvPr/>
        </p:nvSpPr>
        <p:spPr>
          <a:xfrm>
            <a:off x="7550150" y="2111970"/>
            <a:ext cx="370192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302F"/>
                </a:solidFill>
                <a:latin typeface="IBM Plex Sans" pitchFamily="34" charset="0"/>
                <a:ea typeface="IBM Plex Sans" pitchFamily="34" charset="-122"/>
                <a:cs typeface="IBM Plex Sans" pitchFamily="34" charset="-120"/>
              </a:rPr>
              <a:t>Laravel (PHP) + MySQL</a:t>
            </a:r>
            <a:endParaRPr lang="en-US" sz="1600" dirty="0"/>
          </a:p>
        </p:txBody>
      </p:sp>
      <p:sp>
        <p:nvSpPr>
          <p:cNvPr id="14" name="Text 10"/>
          <p:cNvSpPr/>
          <p:nvPr/>
        </p:nvSpPr>
        <p:spPr>
          <a:xfrm>
            <a:off x="7648956" y="2432000"/>
            <a:ext cx="3595497" cy="11684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Sanctum tokens, role permissions</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Queues + Redis for background jobs</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Reverb for real-time messaging</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Encrypted file storage, email, audit log</a:t>
            </a:r>
            <a:endParaRPr lang="en-US" sz="1200" dirty="0"/>
          </a:p>
          <a:p>
            <a:pPr marL="155194" indent="-155194" algn="l">
              <a:lnSpc>
                <a:spcPts val="1800"/>
              </a:lnSpc>
              <a:buSzPct val="100000"/>
              <a:buChar char="•"/>
            </a:pPr>
            <a:r>
              <a:rPr lang="en-US" sz="1200" dirty="0">
                <a:solidFill>
                  <a:srgbClr val="4C5D5C"/>
                </a:solidFill>
                <a:latin typeface="IBM Plex Sans" pitchFamily="34" charset="0"/>
                <a:ea typeface="IBM Plex Sans" pitchFamily="34" charset="-122"/>
                <a:cs typeface="IBM Plex Sans" pitchFamily="34" charset="-120"/>
              </a:rPr>
              <a:t>Automated tests with Pest / PHPUnit</a:t>
            </a:r>
            <a:endParaRPr lang="en-US" sz="1200" dirty="0"/>
          </a:p>
        </p:txBody>
      </p:sp>
      <p:sp>
        <p:nvSpPr>
          <p:cNvPr id="15" name="Text 11"/>
          <p:cNvSpPr/>
          <p:nvPr/>
        </p:nvSpPr>
        <p:spPr>
          <a:xfrm>
            <a:off x="812800" y="4254500"/>
            <a:ext cx="187300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C5D5C"/>
                </a:solidFill>
                <a:latin typeface="IBM Plex Sans" pitchFamily="34" charset="0"/>
                <a:ea typeface="IBM Plex Sans" pitchFamily="34" charset="-122"/>
                <a:cs typeface="IBM Plex Sans" pitchFamily="34" charset="-120"/>
              </a:rPr>
              <a:t>EXTERNAL SYSTEMS</a:t>
            </a:r>
            <a:endParaRPr lang="en-US" sz="1200" dirty="0"/>
          </a:p>
        </p:txBody>
      </p:sp>
      <p:sp>
        <p:nvSpPr>
          <p:cNvPr id="16" name="Text 12"/>
          <p:cNvSpPr/>
          <p:nvPr/>
        </p:nvSpPr>
        <p:spPr>
          <a:xfrm>
            <a:off x="2685802" y="4191000"/>
            <a:ext cx="1463774" cy="340320"/>
          </a:xfrm>
          <a:prstGeom prst="roundRect">
            <a:avLst>
              <a:gd name="adj" fmla="val 50000"/>
            </a:avLst>
          </a:prstGeom>
          <a:solidFill>
            <a:srgbClr val="E5EFEE"/>
          </a:solidFill>
          <a:ln/>
        </p:spPr>
        <p:txBody>
          <a:bodyPr wrap="none" lIns="0" tIns="0" rIns="0" bIns="0" rtlCol="0" anchor="ctr">
            <a:normAutofit/>
          </a:bodyPr>
          <a:lstStyle/>
          <a:p>
            <a:pPr marL="0" indent="0" algn="ctr">
              <a:lnSpc>
                <a:spcPts val="1680"/>
              </a:lnSpc>
              <a:buNone/>
            </a:pPr>
            <a:r>
              <a:rPr lang="en-US" sz="1200" dirty="0">
                <a:solidFill>
                  <a:srgbClr val="12302F"/>
                </a:solidFill>
                <a:latin typeface="IBM Plex Sans" pitchFamily="34" charset="0"/>
                <a:ea typeface="IBM Plex Sans" pitchFamily="34" charset="-122"/>
                <a:cs typeface="IBM Plex Sans" pitchFamily="34" charset="-120"/>
              </a:rPr>
              <a:t>Payment gateway</a:t>
            </a:r>
            <a:endParaRPr lang="en-US" sz="1200" dirty="0"/>
          </a:p>
        </p:txBody>
      </p:sp>
      <p:sp>
        <p:nvSpPr>
          <p:cNvPr id="17" name="Text 13"/>
          <p:cNvSpPr/>
          <p:nvPr/>
        </p:nvSpPr>
        <p:spPr>
          <a:xfrm>
            <a:off x="4251176" y="4191000"/>
            <a:ext cx="1903611" cy="340320"/>
          </a:xfrm>
          <a:prstGeom prst="roundRect">
            <a:avLst>
              <a:gd name="adj" fmla="val 50000"/>
            </a:avLst>
          </a:prstGeom>
          <a:solidFill>
            <a:srgbClr val="E5EFEE"/>
          </a:solidFill>
          <a:ln/>
        </p:spPr>
        <p:txBody>
          <a:bodyPr wrap="none" lIns="0" tIns="0" rIns="0" bIns="0" rtlCol="0" anchor="ctr">
            <a:normAutofit/>
          </a:bodyPr>
          <a:lstStyle/>
          <a:p>
            <a:pPr marL="0" indent="0" algn="ctr">
              <a:lnSpc>
                <a:spcPts val="1680"/>
              </a:lnSpc>
              <a:buNone/>
            </a:pPr>
            <a:r>
              <a:rPr lang="en-US" sz="1200" dirty="0">
                <a:solidFill>
                  <a:srgbClr val="12302F"/>
                </a:solidFill>
                <a:latin typeface="IBM Plex Sans" pitchFamily="34" charset="0"/>
                <a:ea typeface="IBM Plex Sans" pitchFamily="34" charset="-122"/>
                <a:cs typeface="IBM Plex Sans" pitchFamily="34" charset="-120"/>
              </a:rPr>
              <a:t>Email / SMS / WhatsApp</a:t>
            </a:r>
            <a:endParaRPr lang="en-US" sz="1200" dirty="0"/>
          </a:p>
        </p:txBody>
      </p:sp>
      <p:sp>
        <p:nvSpPr>
          <p:cNvPr id="18" name="Text 14"/>
          <p:cNvSpPr/>
          <p:nvPr/>
        </p:nvSpPr>
        <p:spPr>
          <a:xfrm>
            <a:off x="6256387" y="4191000"/>
            <a:ext cx="1913682" cy="340320"/>
          </a:xfrm>
          <a:prstGeom prst="roundRect">
            <a:avLst>
              <a:gd name="adj" fmla="val 50000"/>
            </a:avLst>
          </a:prstGeom>
          <a:solidFill>
            <a:srgbClr val="E5EFEE"/>
          </a:solidFill>
          <a:ln/>
        </p:spPr>
        <p:txBody>
          <a:bodyPr wrap="none" lIns="0" tIns="0" rIns="0" bIns="0" rtlCol="0" anchor="ctr">
            <a:normAutofit/>
          </a:bodyPr>
          <a:lstStyle/>
          <a:p>
            <a:pPr marL="0" indent="0" algn="ctr">
              <a:lnSpc>
                <a:spcPts val="1680"/>
              </a:lnSpc>
              <a:buNone/>
            </a:pPr>
            <a:r>
              <a:rPr lang="en-US" sz="1200" dirty="0">
                <a:solidFill>
                  <a:srgbClr val="12302F"/>
                </a:solidFill>
                <a:latin typeface="IBM Plex Sans" pitchFamily="34" charset="0"/>
                <a:ea typeface="IBM Plex Sans" pitchFamily="34" charset="-122"/>
                <a:cs typeface="IBM Plex Sans" pitchFamily="34" charset="-120"/>
              </a:rPr>
              <a:t>Encrypted cloud storage</a:t>
            </a:r>
            <a:endParaRPr lang="en-US" sz="1200" dirty="0"/>
          </a:p>
        </p:txBody>
      </p:sp>
      <p:sp>
        <p:nvSpPr>
          <p:cNvPr id="19" name="Text 15"/>
          <p:cNvSpPr/>
          <p:nvPr/>
        </p:nvSpPr>
        <p:spPr>
          <a:xfrm>
            <a:off x="8271669" y="4191000"/>
            <a:ext cx="1868686" cy="340320"/>
          </a:xfrm>
          <a:prstGeom prst="roundRect">
            <a:avLst>
              <a:gd name="adj" fmla="val 50000"/>
            </a:avLst>
          </a:prstGeom>
          <a:solidFill>
            <a:srgbClr val="EFECE5"/>
          </a:solidFill>
          <a:ln/>
        </p:spPr>
        <p:txBody>
          <a:bodyPr wrap="none" lIns="0" tIns="0" rIns="0" bIns="0" rtlCol="0" anchor="ctr">
            <a:normAutofit/>
          </a:bodyPr>
          <a:lstStyle/>
          <a:p>
            <a:pPr marL="0" indent="0" algn="ctr">
              <a:lnSpc>
                <a:spcPts val="1680"/>
              </a:lnSpc>
              <a:buNone/>
            </a:pPr>
            <a:r>
              <a:rPr lang="en-US" sz="1200" dirty="0">
                <a:solidFill>
                  <a:srgbClr val="4C5D5C"/>
                </a:solidFill>
                <a:latin typeface="IBM Plex Sans" pitchFamily="34" charset="0"/>
                <a:ea typeface="IBM Plex Sans" pitchFamily="34" charset="-122"/>
                <a:cs typeface="IBM Plex Sans" pitchFamily="34" charset="-120"/>
              </a:rPr>
              <a:t>AI, video &amp; maps (later)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Methodology: Phased, Iterative Development</a:t>
            </a:r>
            <a:endParaRPr lang="en-US" sz="3000" dirty="0"/>
          </a:p>
        </p:txBody>
      </p:sp>
      <p:sp>
        <p:nvSpPr>
          <p:cNvPr id="3" name="Text 1"/>
          <p:cNvSpPr/>
          <p:nvPr/>
        </p:nvSpPr>
        <p:spPr>
          <a:xfrm>
            <a:off x="812800" y="14351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5D5C"/>
                </a:solidFill>
                <a:latin typeface="IBM Plex Sans" pitchFamily="34" charset="0"/>
                <a:ea typeface="IBM Plex Sans" pitchFamily="34" charset="-122"/>
                <a:cs typeface="IBM Plex Sans" pitchFamily="34" charset="-120"/>
              </a:rPr>
              <a:t>Seven overlapping phases; each review milestone checks the outputs of the phases before it.</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7700"/>
          <a:ext cx="10553700" cy="3027360"/>
        </p:xfrm>
        <a:graphic>
          <a:graphicData uri="http://schemas.openxmlformats.org/drawingml/2006/table">
            <a:tbl>
              <a:tblPr/>
              <a:tblGrid>
                <a:gridCol w="2321814">
                  <a:extLst>
                    <a:ext uri="{9D8B030D-6E8A-4147-A177-3AD203B41FA5}">
                      <a16:colId xmlns:a16="http://schemas.microsoft.com/office/drawing/2014/main" val="20000"/>
                    </a:ext>
                  </a:extLst>
                </a:gridCol>
                <a:gridCol w="5487924">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tblGrid>
              <a:tr h="378420">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Phase</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122A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29"/>
                      </a:solidFill>
                      <a:prstDash val="solid"/>
                      <a:round/>
                      <a:headEnd type="none" w="med" len="med"/>
                      <a:tailEnd type="none" w="med" len="med"/>
                    </a:lnB>
                    <a:solidFill>
                      <a:srgbClr val="12302F"/>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Main activities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122A29"/>
                      </a:solidFill>
                      <a:prstDash val="solid"/>
                      <a:round/>
                      <a:headEnd type="none" w="med" len="med"/>
                      <a:tailEnd type="none" w="med" len="med"/>
                    </a:lnL>
                    <a:lnR w="12700" cap="flat" cmpd="sng" algn="ctr">
                      <a:solidFill>
                        <a:srgbClr val="122A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29"/>
                      </a:solidFill>
                      <a:prstDash val="solid"/>
                      <a:round/>
                      <a:headEnd type="none" w="med" len="med"/>
                      <a:tailEnd type="none" w="med" len="med"/>
                    </a:lnB>
                    <a:solidFill>
                      <a:srgbClr val="12302F"/>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Output</a:t>
                      </a:r>
                      <a:endParaRPr lang="en-US" sz="1200" dirty="0">
                        <a:latin typeface="IBM Plex Sans" charset="0"/>
                        <a:ea typeface="IBM Plex Sans" charset="0"/>
                        <a:cs typeface="IBM Plex Sans" charset="0"/>
                      </a:endParaRPr>
                    </a:p>
                  </a:txBody>
                  <a:tcPr marL="127000" marR="127000" marT="76200" marB="76200">
                    <a:lnL w="12700" cap="flat" cmpd="sng" algn="ctr">
                      <a:solidFill>
                        <a:srgbClr val="122A29"/>
                      </a:solidFill>
                      <a:prstDash val="solid"/>
                      <a:round/>
                      <a:headEnd type="none" w="med" len="med"/>
                      <a:tailEnd type="none" w="med" len="med"/>
                    </a:lnL>
                    <a:lnR w="12700" cap="flat" cmpd="sng" algn="ctr">
                      <a:solidFill>
                        <a:srgbClr val="122A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29"/>
                      </a:solidFill>
                      <a:prstDash val="solid"/>
                      <a:round/>
                      <a:headEnd type="none" w="med" len="med"/>
                      <a:tailEnd type="none" w="med" len="med"/>
                    </a:lnB>
                    <a:solidFill>
                      <a:srgbClr val="12302F"/>
                    </a:solidFill>
                  </a:tcPr>
                </a:tc>
                <a:extLst>
                  <a:ext uri="{0D108BD9-81ED-4DB2-BD59-A6C34878D82A}">
                    <a16:rowId xmlns:a16="http://schemas.microsoft.com/office/drawing/2014/main" val="10000"/>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1. Planning</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Scope, MVP boundaries, team roles, schedule and risks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Project plan, Gantt chart</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2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2. Requirements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Study the medical-tourism workflow and its actors; collect 99 requirements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Requirements document</a:t>
                      </a:r>
                      <a:endParaRPr lang="en-US" sz="1200" dirty="0">
                        <a:latin typeface="IBM Plex Sans" charset="0"/>
                        <a:ea typeface="IBM Plex Sans" charset="0"/>
                        <a:cs typeface="IBM Plex Sans" charset="0"/>
                      </a:endParaRPr>
                    </a:p>
                  </a:txBody>
                  <a:tcPr marL="127000" marR="127000" marT="76200" marB="762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2"/>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3. Analysis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Prioritise 20 MVP requirements; use cases and role permissions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Use-case model, MVP scope</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4. Design</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Database schema, REST API, architecture and UI wireframes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Design document, prototype</a:t>
                      </a:r>
                      <a:endParaRPr lang="en-US" sz="1200" dirty="0">
                        <a:latin typeface="IBM Plex Sans" charset="0"/>
                        <a:ea typeface="IBM Plex Sans" charset="0"/>
                        <a:cs typeface="IBM Plex Sans" charset="0"/>
                      </a:endParaRPr>
                    </a:p>
                  </a:txBody>
                  <a:tcPr marL="127000" marR="127000" marT="76200" marB="762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4"/>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5. Implementation</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Laravel backend and React frontend, built feature by feature</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Working MVP</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6. Testing</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Automated tests and a full end-to-end cycle test</a:t>
                      </a:r>
                      <a:endParaRPr lang="en-US" sz="1200" dirty="0">
                        <a:latin typeface="IBM Plex Sans" charset="0"/>
                        <a:ea typeface="IBM Plex Sans" charset="0"/>
                        <a:cs typeface="IBM Plex Sans" charset="0"/>
                      </a:endParaRPr>
                    </a:p>
                  </a:txBody>
                  <a:tcPr marL="127000" marR="127000" marT="76200" marB="762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Test report</a:t>
                      </a:r>
                      <a:endParaRPr lang="en-US" sz="1200" dirty="0">
                        <a:latin typeface="IBM Plex Sans" charset="0"/>
                        <a:ea typeface="IBM Plex Sans" charset="0"/>
                        <a:cs typeface="IBM Plex Sans" charset="0"/>
                      </a:endParaRPr>
                    </a:p>
                  </a:txBody>
                  <a:tcPr marL="127000" marR="127000" marT="76200" marB="762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6"/>
                  </a:ext>
                </a:extLst>
              </a:tr>
              <a:tr h="378420">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7. Documentation</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Runs the whole project: records each phase, then the final report and guides</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302F"/>
                          </a:solidFill>
                          <a:latin typeface="IBM Plex Sans" pitchFamily="34" charset="0"/>
                          <a:ea typeface="IBM Plex Sans" pitchFamily="34" charset="-122"/>
                          <a:cs typeface="IBM Plex Sans" pitchFamily="34" charset="-120"/>
                        </a:rPr>
                        <a:t>Final report, presentation</a:t>
                      </a:r>
                      <a:endParaRPr lang="en-US" sz="1200" dirty="0">
                        <a:latin typeface="IBM Plex Sans" charset="0"/>
                        <a:ea typeface="IBM Plex Sans" charset="0"/>
                        <a:cs typeface="IBM Plex Sans" charset="0"/>
                      </a:endParaRPr>
                    </a:p>
                  </a:txBody>
                  <a:tcPr marL="127000" marR="127000" marT="76200" marB="762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Project Timeline (Gantt Chart)</a:t>
            </a:r>
            <a:endParaRPr lang="en-US" sz="3000" dirty="0"/>
          </a:p>
        </p:txBody>
      </p:sp>
      <p:sp>
        <p:nvSpPr>
          <p:cNvPr id="3" name="Text 1"/>
          <p:cNvSpPr/>
          <p:nvPr/>
        </p:nvSpPr>
        <p:spPr>
          <a:xfrm>
            <a:off x="812800" y="14351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5D5C"/>
                </a:solidFill>
                <a:latin typeface="IBM Plex Sans" pitchFamily="34" charset="0"/>
                <a:ea typeface="IBM Plex Sans" pitchFamily="34" charset="-122"/>
                <a:cs typeface="IBM Plex Sans" pitchFamily="34" charset="-120"/>
              </a:rPr>
              <a:t>October 10, 2026 – February 9, 2027 · seven phases and four review milestones</a:t>
            </a:r>
            <a:endParaRPr lang="en-US" sz="1400" dirty="0"/>
          </a:p>
        </p:txBody>
      </p:sp>
      <p:sp>
        <p:nvSpPr>
          <p:cNvPr id="4" name="Text 2"/>
          <p:cNvSpPr/>
          <p:nvPr/>
        </p:nvSpPr>
        <p:spPr>
          <a:xfrm>
            <a:off x="812800" y="1925340"/>
            <a:ext cx="669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5D5C"/>
                </a:solidFill>
                <a:latin typeface="IBM Plex Sans" pitchFamily="34" charset="0"/>
                <a:ea typeface="IBM Plex Sans" pitchFamily="34" charset="-122"/>
                <a:cs typeface="IBM Plex Sans" pitchFamily="34" charset="-120"/>
              </a:rPr>
              <a:t>PHASE</a:t>
            </a:r>
            <a:endParaRPr lang="en-US" sz="1200" dirty="0"/>
          </a:p>
        </p:txBody>
      </p:sp>
      <p:sp>
        <p:nvSpPr>
          <p:cNvPr id="5" name="Shape 3"/>
          <p:cNvSpPr/>
          <p:nvPr/>
        </p:nvSpPr>
        <p:spPr>
          <a:xfrm>
            <a:off x="3355975" y="1879600"/>
            <a:ext cx="0" cy="304800"/>
          </a:xfrm>
          <a:prstGeom prst="line">
            <a:avLst/>
          </a:prstGeom>
          <a:noFill/>
          <a:ln w="6350">
            <a:solidFill>
              <a:srgbClr val="CFCABD"/>
            </a:solidFill>
            <a:prstDash val="solid"/>
          </a:ln>
        </p:spPr>
      </p:sp>
      <p:sp>
        <p:nvSpPr>
          <p:cNvPr id="6" name="Text 4"/>
          <p:cNvSpPr/>
          <p:nvPr/>
        </p:nvSpPr>
        <p:spPr>
          <a:xfrm>
            <a:off x="3435350" y="1925340"/>
            <a:ext cx="69616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C5D5C"/>
                </a:solidFill>
                <a:latin typeface="IBM Plex Sans" pitchFamily="34" charset="0"/>
                <a:ea typeface="IBM Plex Sans" pitchFamily="34" charset="-122"/>
                <a:cs typeface="IBM Plex Sans" pitchFamily="34" charset="-120"/>
              </a:rPr>
              <a:t>Oct 2026</a:t>
            </a:r>
            <a:endParaRPr lang="en-US" sz="1200" dirty="0"/>
          </a:p>
        </p:txBody>
      </p:sp>
      <p:sp>
        <p:nvSpPr>
          <p:cNvPr id="7" name="Shape 5"/>
          <p:cNvSpPr/>
          <p:nvPr/>
        </p:nvSpPr>
        <p:spPr>
          <a:xfrm>
            <a:off x="4707434" y="1879600"/>
            <a:ext cx="0" cy="304800"/>
          </a:xfrm>
          <a:prstGeom prst="line">
            <a:avLst/>
          </a:prstGeom>
          <a:noFill/>
          <a:ln w="6350">
            <a:solidFill>
              <a:srgbClr val="CFCABD"/>
            </a:solidFill>
            <a:prstDash val="solid"/>
          </a:ln>
        </p:spPr>
      </p:sp>
      <p:sp>
        <p:nvSpPr>
          <p:cNvPr id="8" name="Text 6"/>
          <p:cNvSpPr/>
          <p:nvPr/>
        </p:nvSpPr>
        <p:spPr>
          <a:xfrm>
            <a:off x="4786809" y="1925340"/>
            <a:ext cx="7265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C5D5C"/>
                </a:solidFill>
                <a:latin typeface="IBM Plex Sans" pitchFamily="34" charset="0"/>
                <a:ea typeface="IBM Plex Sans" pitchFamily="34" charset="-122"/>
                <a:cs typeface="IBM Plex Sans" pitchFamily="34" charset="-120"/>
              </a:rPr>
              <a:t>Nov 2026</a:t>
            </a:r>
            <a:endParaRPr lang="en-US" sz="1200" dirty="0"/>
          </a:p>
        </p:txBody>
      </p:sp>
      <p:sp>
        <p:nvSpPr>
          <p:cNvPr id="9" name="Shape 7"/>
          <p:cNvSpPr/>
          <p:nvPr/>
        </p:nvSpPr>
        <p:spPr>
          <a:xfrm>
            <a:off x="6520359" y="1879600"/>
            <a:ext cx="0" cy="304800"/>
          </a:xfrm>
          <a:prstGeom prst="line">
            <a:avLst/>
          </a:prstGeom>
          <a:noFill/>
          <a:ln w="6350">
            <a:solidFill>
              <a:srgbClr val="CFCABD"/>
            </a:solidFill>
            <a:prstDash val="solid"/>
          </a:ln>
        </p:spPr>
      </p:sp>
      <p:sp>
        <p:nvSpPr>
          <p:cNvPr id="10" name="Text 8"/>
          <p:cNvSpPr/>
          <p:nvPr/>
        </p:nvSpPr>
        <p:spPr>
          <a:xfrm>
            <a:off x="6599734" y="1925340"/>
            <a:ext cx="7208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C5D5C"/>
                </a:solidFill>
                <a:latin typeface="IBM Plex Sans" pitchFamily="34" charset="0"/>
                <a:ea typeface="IBM Plex Sans" pitchFamily="34" charset="-122"/>
                <a:cs typeface="IBM Plex Sans" pitchFamily="34" charset="-120"/>
              </a:rPr>
              <a:t>Dec 2026</a:t>
            </a:r>
            <a:endParaRPr lang="en-US" sz="1200" dirty="0"/>
          </a:p>
        </p:txBody>
      </p:sp>
      <p:sp>
        <p:nvSpPr>
          <p:cNvPr id="11" name="Shape 9"/>
          <p:cNvSpPr/>
          <p:nvPr/>
        </p:nvSpPr>
        <p:spPr>
          <a:xfrm>
            <a:off x="8390979" y="1879600"/>
            <a:ext cx="0" cy="304800"/>
          </a:xfrm>
          <a:prstGeom prst="line">
            <a:avLst/>
          </a:prstGeom>
          <a:noFill/>
          <a:ln w="6350">
            <a:solidFill>
              <a:srgbClr val="CFCABD"/>
            </a:solidFill>
            <a:prstDash val="solid"/>
          </a:ln>
        </p:spPr>
      </p:sp>
      <p:sp>
        <p:nvSpPr>
          <p:cNvPr id="12" name="Text 10"/>
          <p:cNvSpPr/>
          <p:nvPr/>
        </p:nvSpPr>
        <p:spPr>
          <a:xfrm>
            <a:off x="8470354" y="1925340"/>
            <a:ext cx="71025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C5D5C"/>
                </a:solidFill>
                <a:latin typeface="IBM Plex Sans" pitchFamily="34" charset="0"/>
                <a:ea typeface="IBM Plex Sans" pitchFamily="34" charset="-122"/>
                <a:cs typeface="IBM Plex Sans" pitchFamily="34" charset="-120"/>
              </a:rPr>
              <a:t>Jan 2027</a:t>
            </a:r>
            <a:endParaRPr lang="en-US" sz="1200" dirty="0"/>
          </a:p>
        </p:txBody>
      </p:sp>
      <p:sp>
        <p:nvSpPr>
          <p:cNvPr id="13" name="Shape 11"/>
          <p:cNvSpPr/>
          <p:nvPr/>
        </p:nvSpPr>
        <p:spPr>
          <a:xfrm>
            <a:off x="10261600" y="1879600"/>
            <a:ext cx="0" cy="304800"/>
          </a:xfrm>
          <a:prstGeom prst="line">
            <a:avLst/>
          </a:prstGeom>
          <a:noFill/>
          <a:ln w="6350">
            <a:solidFill>
              <a:srgbClr val="CFCABD"/>
            </a:solidFill>
            <a:prstDash val="solid"/>
          </a:ln>
        </p:spPr>
      </p:sp>
      <p:sp>
        <p:nvSpPr>
          <p:cNvPr id="14" name="Text 12"/>
          <p:cNvSpPr/>
          <p:nvPr/>
        </p:nvSpPr>
        <p:spPr>
          <a:xfrm>
            <a:off x="10340975" y="1925340"/>
            <a:ext cx="7124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C5D5C"/>
                </a:solidFill>
                <a:latin typeface="IBM Plex Sans" pitchFamily="34" charset="0"/>
                <a:ea typeface="IBM Plex Sans" pitchFamily="34" charset="-122"/>
                <a:cs typeface="IBM Plex Sans" pitchFamily="34" charset="-120"/>
              </a:rPr>
              <a:t>Feb 2027</a:t>
            </a:r>
            <a:endParaRPr lang="en-US" sz="1200" dirty="0"/>
          </a:p>
        </p:txBody>
      </p:sp>
      <p:sp>
        <p:nvSpPr>
          <p:cNvPr id="15" name="Shape 13"/>
          <p:cNvSpPr/>
          <p:nvPr/>
        </p:nvSpPr>
        <p:spPr>
          <a:xfrm>
            <a:off x="812800" y="2187575"/>
            <a:ext cx="10566400" cy="0"/>
          </a:xfrm>
          <a:prstGeom prst="line">
            <a:avLst/>
          </a:prstGeom>
          <a:noFill/>
          <a:ln w="6350">
            <a:solidFill>
              <a:srgbClr val="E2DED4"/>
            </a:solidFill>
            <a:prstDash val="solid"/>
          </a:ln>
        </p:spPr>
      </p:sp>
      <p:sp>
        <p:nvSpPr>
          <p:cNvPr id="16" name="Text 14"/>
          <p:cNvSpPr/>
          <p:nvPr/>
        </p:nvSpPr>
        <p:spPr>
          <a:xfrm>
            <a:off x="812800" y="2203450"/>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Planning</a:t>
            </a:r>
            <a:endParaRPr lang="en-US" sz="1400" dirty="0"/>
          </a:p>
        </p:txBody>
      </p:sp>
      <p:sp>
        <p:nvSpPr>
          <p:cNvPr id="17" name="Text 15"/>
          <p:cNvSpPr/>
          <p:nvPr/>
        </p:nvSpPr>
        <p:spPr>
          <a:xfrm>
            <a:off x="812800" y="2420590"/>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Oct 10 – Oct 21</a:t>
            </a:r>
            <a:endParaRPr lang="en-US" sz="1200" dirty="0"/>
          </a:p>
        </p:txBody>
      </p:sp>
      <p:sp>
        <p:nvSpPr>
          <p:cNvPr id="18" name="Shape 16"/>
          <p:cNvSpPr/>
          <p:nvPr/>
        </p:nvSpPr>
        <p:spPr>
          <a:xfrm>
            <a:off x="812800" y="2619375"/>
            <a:ext cx="10566400" cy="0"/>
          </a:xfrm>
          <a:prstGeom prst="line">
            <a:avLst/>
          </a:prstGeom>
          <a:noFill/>
          <a:ln w="6350">
            <a:solidFill>
              <a:srgbClr val="E2DED4"/>
            </a:solidFill>
            <a:prstDash val="solid"/>
          </a:ln>
        </p:spPr>
      </p:sp>
      <p:sp>
        <p:nvSpPr>
          <p:cNvPr id="19" name="Text 17"/>
          <p:cNvSpPr/>
          <p:nvPr/>
        </p:nvSpPr>
        <p:spPr>
          <a:xfrm>
            <a:off x="812800" y="2635250"/>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Requirements gathering</a:t>
            </a:r>
            <a:endParaRPr lang="en-US" sz="1400" dirty="0"/>
          </a:p>
        </p:txBody>
      </p:sp>
      <p:sp>
        <p:nvSpPr>
          <p:cNvPr id="20" name="Text 18"/>
          <p:cNvSpPr/>
          <p:nvPr/>
        </p:nvSpPr>
        <p:spPr>
          <a:xfrm>
            <a:off x="812800" y="2852390"/>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Oct 15 – Nov 1</a:t>
            </a:r>
            <a:endParaRPr lang="en-US" sz="1200" dirty="0"/>
          </a:p>
        </p:txBody>
      </p:sp>
      <p:sp>
        <p:nvSpPr>
          <p:cNvPr id="21" name="Shape 19"/>
          <p:cNvSpPr/>
          <p:nvPr/>
        </p:nvSpPr>
        <p:spPr>
          <a:xfrm>
            <a:off x="812800" y="3051175"/>
            <a:ext cx="10566400" cy="0"/>
          </a:xfrm>
          <a:prstGeom prst="line">
            <a:avLst/>
          </a:prstGeom>
          <a:noFill/>
          <a:ln w="6350">
            <a:solidFill>
              <a:srgbClr val="E2DED4"/>
            </a:solidFill>
            <a:prstDash val="solid"/>
          </a:ln>
        </p:spPr>
      </p:sp>
      <p:sp>
        <p:nvSpPr>
          <p:cNvPr id="22" name="Text 20"/>
          <p:cNvSpPr/>
          <p:nvPr/>
        </p:nvSpPr>
        <p:spPr>
          <a:xfrm>
            <a:off x="812800" y="3067050"/>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Analysis</a:t>
            </a:r>
            <a:endParaRPr lang="en-US" sz="1400" dirty="0"/>
          </a:p>
        </p:txBody>
      </p:sp>
      <p:sp>
        <p:nvSpPr>
          <p:cNvPr id="23" name="Text 21"/>
          <p:cNvSpPr/>
          <p:nvPr/>
        </p:nvSpPr>
        <p:spPr>
          <a:xfrm>
            <a:off x="812800" y="3284190"/>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Oct 26 – Nov 14</a:t>
            </a:r>
            <a:endParaRPr lang="en-US" sz="1200" dirty="0"/>
          </a:p>
        </p:txBody>
      </p:sp>
      <p:sp>
        <p:nvSpPr>
          <p:cNvPr id="24" name="Shape 22"/>
          <p:cNvSpPr/>
          <p:nvPr/>
        </p:nvSpPr>
        <p:spPr>
          <a:xfrm>
            <a:off x="812800" y="3482975"/>
            <a:ext cx="10566400" cy="0"/>
          </a:xfrm>
          <a:prstGeom prst="line">
            <a:avLst/>
          </a:prstGeom>
          <a:noFill/>
          <a:ln w="6350">
            <a:solidFill>
              <a:srgbClr val="E2DED4"/>
            </a:solidFill>
            <a:prstDash val="solid"/>
          </a:ln>
        </p:spPr>
      </p:sp>
      <p:sp>
        <p:nvSpPr>
          <p:cNvPr id="25" name="Text 23"/>
          <p:cNvSpPr/>
          <p:nvPr/>
        </p:nvSpPr>
        <p:spPr>
          <a:xfrm>
            <a:off x="812800" y="3498850"/>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Design</a:t>
            </a:r>
            <a:endParaRPr lang="en-US" sz="1400" dirty="0"/>
          </a:p>
        </p:txBody>
      </p:sp>
      <p:sp>
        <p:nvSpPr>
          <p:cNvPr id="26" name="Text 24"/>
          <p:cNvSpPr/>
          <p:nvPr/>
        </p:nvSpPr>
        <p:spPr>
          <a:xfrm>
            <a:off x="812800" y="3715990"/>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Nov 10 – Dec 12</a:t>
            </a:r>
            <a:endParaRPr lang="en-US" sz="1200" dirty="0"/>
          </a:p>
        </p:txBody>
      </p:sp>
      <p:sp>
        <p:nvSpPr>
          <p:cNvPr id="27" name="Shape 25"/>
          <p:cNvSpPr/>
          <p:nvPr/>
        </p:nvSpPr>
        <p:spPr>
          <a:xfrm>
            <a:off x="812800" y="3914775"/>
            <a:ext cx="10566400" cy="0"/>
          </a:xfrm>
          <a:prstGeom prst="line">
            <a:avLst/>
          </a:prstGeom>
          <a:noFill/>
          <a:ln w="6350">
            <a:solidFill>
              <a:srgbClr val="E2DED4"/>
            </a:solidFill>
            <a:prstDash val="solid"/>
          </a:ln>
        </p:spPr>
      </p:sp>
      <p:sp>
        <p:nvSpPr>
          <p:cNvPr id="28" name="Text 26"/>
          <p:cNvSpPr/>
          <p:nvPr/>
        </p:nvSpPr>
        <p:spPr>
          <a:xfrm>
            <a:off x="812800" y="3930650"/>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Implementation</a:t>
            </a:r>
            <a:endParaRPr lang="en-US" sz="1400" dirty="0"/>
          </a:p>
        </p:txBody>
      </p:sp>
      <p:sp>
        <p:nvSpPr>
          <p:cNvPr id="29" name="Text 27"/>
          <p:cNvSpPr/>
          <p:nvPr/>
        </p:nvSpPr>
        <p:spPr>
          <a:xfrm>
            <a:off x="812800" y="4147790"/>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Dec 1 – Jan 22</a:t>
            </a:r>
            <a:endParaRPr lang="en-US" sz="1200" dirty="0"/>
          </a:p>
        </p:txBody>
      </p:sp>
      <p:sp>
        <p:nvSpPr>
          <p:cNvPr id="30" name="Shape 28"/>
          <p:cNvSpPr/>
          <p:nvPr/>
        </p:nvSpPr>
        <p:spPr>
          <a:xfrm>
            <a:off x="812800" y="4346575"/>
            <a:ext cx="10566400" cy="0"/>
          </a:xfrm>
          <a:prstGeom prst="line">
            <a:avLst/>
          </a:prstGeom>
          <a:noFill/>
          <a:ln w="6350">
            <a:solidFill>
              <a:srgbClr val="E2DED4"/>
            </a:solidFill>
            <a:prstDash val="solid"/>
          </a:ln>
        </p:spPr>
      </p:sp>
      <p:sp>
        <p:nvSpPr>
          <p:cNvPr id="31" name="Text 29"/>
          <p:cNvSpPr/>
          <p:nvPr/>
        </p:nvSpPr>
        <p:spPr>
          <a:xfrm>
            <a:off x="812800" y="4362450"/>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Testing</a:t>
            </a:r>
            <a:endParaRPr lang="en-US" sz="1400" dirty="0"/>
          </a:p>
        </p:txBody>
      </p:sp>
      <p:sp>
        <p:nvSpPr>
          <p:cNvPr id="32" name="Text 30"/>
          <p:cNvSpPr/>
          <p:nvPr/>
        </p:nvSpPr>
        <p:spPr>
          <a:xfrm>
            <a:off x="812800" y="4579590"/>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Dec 20 – Jan 24</a:t>
            </a:r>
            <a:endParaRPr lang="en-US" sz="1200" dirty="0"/>
          </a:p>
        </p:txBody>
      </p:sp>
      <p:sp>
        <p:nvSpPr>
          <p:cNvPr id="33" name="Shape 31"/>
          <p:cNvSpPr/>
          <p:nvPr/>
        </p:nvSpPr>
        <p:spPr>
          <a:xfrm>
            <a:off x="812800" y="4778375"/>
            <a:ext cx="10566400" cy="0"/>
          </a:xfrm>
          <a:prstGeom prst="line">
            <a:avLst/>
          </a:prstGeom>
          <a:noFill/>
          <a:ln w="6350">
            <a:solidFill>
              <a:srgbClr val="E2DED4"/>
            </a:solidFill>
            <a:prstDash val="solid"/>
          </a:ln>
        </p:spPr>
      </p:sp>
      <p:sp>
        <p:nvSpPr>
          <p:cNvPr id="34" name="Shape 32"/>
          <p:cNvSpPr/>
          <p:nvPr/>
        </p:nvSpPr>
        <p:spPr>
          <a:xfrm>
            <a:off x="812800" y="5203825"/>
            <a:ext cx="10566400" cy="0"/>
          </a:xfrm>
          <a:prstGeom prst="line">
            <a:avLst/>
          </a:prstGeom>
          <a:noFill/>
          <a:ln w="6350">
            <a:solidFill>
              <a:srgbClr val="E2DED4"/>
            </a:solidFill>
            <a:prstDash val="solid"/>
          </a:ln>
        </p:spPr>
      </p:sp>
      <p:sp>
        <p:nvSpPr>
          <p:cNvPr id="35" name="Text 33"/>
          <p:cNvSpPr/>
          <p:nvPr/>
        </p:nvSpPr>
        <p:spPr>
          <a:xfrm>
            <a:off x="812800" y="4791075"/>
            <a:ext cx="2616200" cy="2298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17302F"/>
                </a:solidFill>
                <a:latin typeface="IBM Plex Sans" pitchFamily="34" charset="0"/>
                <a:ea typeface="IBM Plex Sans" pitchFamily="34" charset="-122"/>
                <a:cs typeface="IBM Plex Sans" pitchFamily="34" charset="-120"/>
              </a:rPr>
              <a:t>Documentation</a:t>
            </a:r>
            <a:endParaRPr lang="en-US" sz="1400" dirty="0"/>
          </a:p>
        </p:txBody>
      </p:sp>
      <p:sp>
        <p:nvSpPr>
          <p:cNvPr id="36" name="Text 34"/>
          <p:cNvSpPr/>
          <p:nvPr/>
        </p:nvSpPr>
        <p:spPr>
          <a:xfrm>
            <a:off x="812800" y="5008215"/>
            <a:ext cx="2616200" cy="20826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C5D5C"/>
                </a:solidFill>
                <a:latin typeface="IBM Plex Sans" pitchFamily="34" charset="0"/>
                <a:ea typeface="IBM Plex Sans" pitchFamily="34" charset="-122"/>
                <a:cs typeface="IBM Plex Sans" pitchFamily="34" charset="-120"/>
              </a:rPr>
              <a:t>Oct 10 – Feb 9</a:t>
            </a:r>
            <a:endParaRPr lang="en-US" sz="1200" dirty="0"/>
          </a:p>
        </p:txBody>
      </p:sp>
      <p:sp>
        <p:nvSpPr>
          <p:cNvPr id="37" name="Text 35"/>
          <p:cNvSpPr/>
          <p:nvPr/>
        </p:nvSpPr>
        <p:spPr>
          <a:xfrm>
            <a:off x="812800" y="56134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1</a:t>
            </a:r>
            <a:endParaRPr lang="en-US" sz="1200" dirty="0"/>
          </a:p>
        </p:txBody>
      </p:sp>
      <p:sp>
        <p:nvSpPr>
          <p:cNvPr id="38" name="Text 36"/>
          <p:cNvSpPr/>
          <p:nvPr/>
        </p:nvSpPr>
        <p:spPr>
          <a:xfrm>
            <a:off x="1117600" y="5621040"/>
            <a:ext cx="202346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302F"/>
                </a:solidFill>
                <a:latin typeface="IBM Plex Sans" pitchFamily="34" charset="0"/>
                <a:ea typeface="IBM Plex Sans" pitchFamily="34" charset="-122"/>
                <a:cs typeface="IBM Plex Sans" pitchFamily="34" charset="-120"/>
              </a:rPr>
              <a:t>Seminar 1</a:t>
            </a:r>
            <a:r>
              <a:rPr lang="en-US" sz="1200" dirty="0">
                <a:solidFill>
                  <a:srgbClr val="17302F"/>
                </a:solidFill>
                <a:latin typeface="IBM Plex Sans" pitchFamily="34" charset="0"/>
                <a:ea typeface="IBM Plex Sans" pitchFamily="34" charset="-122"/>
                <a:cs typeface="IBM Plex Sans" pitchFamily="34" charset="-120"/>
              </a:rPr>
              <a:t> · Nov 3, 2026</a:t>
            </a:r>
            <a:endParaRPr lang="en-US" sz="1200" dirty="0"/>
          </a:p>
        </p:txBody>
      </p:sp>
      <p:sp>
        <p:nvSpPr>
          <p:cNvPr id="39" name="Text 37"/>
          <p:cNvSpPr/>
          <p:nvPr/>
        </p:nvSpPr>
        <p:spPr>
          <a:xfrm>
            <a:off x="3203228" y="56134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2</a:t>
            </a:r>
            <a:endParaRPr lang="en-US" sz="1200" dirty="0"/>
          </a:p>
        </p:txBody>
      </p:sp>
      <p:sp>
        <p:nvSpPr>
          <p:cNvPr id="40" name="Text 38"/>
          <p:cNvSpPr/>
          <p:nvPr/>
        </p:nvSpPr>
        <p:spPr>
          <a:xfrm>
            <a:off x="3508028" y="5621040"/>
            <a:ext cx="210776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302F"/>
                </a:solidFill>
                <a:latin typeface="IBM Plex Sans" pitchFamily="34" charset="0"/>
                <a:ea typeface="IBM Plex Sans" pitchFamily="34" charset="-122"/>
                <a:cs typeface="IBM Plex Sans" pitchFamily="34" charset="-120"/>
              </a:rPr>
              <a:t>Seminar 2</a:t>
            </a:r>
            <a:r>
              <a:rPr lang="en-US" sz="1200" dirty="0">
                <a:solidFill>
                  <a:srgbClr val="17302F"/>
                </a:solidFill>
                <a:latin typeface="IBM Plex Sans" pitchFamily="34" charset="0"/>
                <a:ea typeface="IBM Plex Sans" pitchFamily="34" charset="-122"/>
                <a:cs typeface="IBM Plex Sans" pitchFamily="34" charset="-120"/>
              </a:rPr>
              <a:t> · Jan 12, 2027</a:t>
            </a:r>
            <a:endParaRPr lang="en-US" sz="1200" dirty="0"/>
          </a:p>
        </p:txBody>
      </p:sp>
      <p:sp>
        <p:nvSpPr>
          <p:cNvPr id="41" name="Text 39"/>
          <p:cNvSpPr/>
          <p:nvPr/>
        </p:nvSpPr>
        <p:spPr>
          <a:xfrm>
            <a:off x="5663853" y="56134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3</a:t>
            </a:r>
            <a:endParaRPr lang="en-US" sz="1200" dirty="0"/>
          </a:p>
        </p:txBody>
      </p:sp>
      <p:sp>
        <p:nvSpPr>
          <p:cNvPr id="42" name="Text 40"/>
          <p:cNvSpPr/>
          <p:nvPr/>
        </p:nvSpPr>
        <p:spPr>
          <a:xfrm>
            <a:off x="5968653" y="5621040"/>
            <a:ext cx="284653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302F"/>
                </a:solidFill>
                <a:latin typeface="IBM Plex Sans" pitchFamily="34" charset="0"/>
                <a:ea typeface="IBM Plex Sans" pitchFamily="34" charset="-122"/>
                <a:cs typeface="IBM Plex Sans" pitchFamily="34" charset="-120"/>
              </a:rPr>
              <a:t>Technical Interview</a:t>
            </a:r>
            <a:r>
              <a:rPr lang="en-US" sz="1200" dirty="0">
                <a:solidFill>
                  <a:srgbClr val="17302F"/>
                </a:solidFill>
                <a:latin typeface="IBM Plex Sans" pitchFamily="34" charset="0"/>
                <a:ea typeface="IBM Plex Sans" pitchFamily="34" charset="-122"/>
                <a:cs typeface="IBM Plex Sans" pitchFamily="34" charset="-120"/>
              </a:rPr>
              <a:t> · Jan 26, 2027</a:t>
            </a:r>
            <a:endParaRPr lang="en-US" sz="1200" dirty="0"/>
          </a:p>
        </p:txBody>
      </p:sp>
      <p:sp>
        <p:nvSpPr>
          <p:cNvPr id="43" name="Text 41"/>
          <p:cNvSpPr/>
          <p:nvPr/>
        </p:nvSpPr>
        <p:spPr>
          <a:xfrm>
            <a:off x="8815189" y="56134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4</a:t>
            </a:r>
            <a:endParaRPr lang="en-US" sz="1200" dirty="0"/>
          </a:p>
        </p:txBody>
      </p:sp>
      <p:sp>
        <p:nvSpPr>
          <p:cNvPr id="44" name="Text 42"/>
          <p:cNvSpPr/>
          <p:nvPr/>
        </p:nvSpPr>
        <p:spPr>
          <a:xfrm>
            <a:off x="9119989" y="5621040"/>
            <a:ext cx="271105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302F"/>
                </a:solidFill>
                <a:latin typeface="IBM Plex Sans" pitchFamily="34" charset="0"/>
                <a:ea typeface="IBM Plex Sans" pitchFamily="34" charset="-122"/>
                <a:cs typeface="IBM Plex Sans" pitchFamily="34" charset="-120"/>
              </a:rPr>
              <a:t>Final Presentation</a:t>
            </a:r>
            <a:r>
              <a:rPr lang="en-US" sz="1200" dirty="0">
                <a:solidFill>
                  <a:srgbClr val="17302F"/>
                </a:solidFill>
                <a:latin typeface="IBM Plex Sans" pitchFamily="34" charset="0"/>
                <a:ea typeface="IBM Plex Sans" pitchFamily="34" charset="-122"/>
                <a:cs typeface="IBM Plex Sans" pitchFamily="34" charset="-120"/>
              </a:rPr>
              <a:t> · Feb 9, 2027</a:t>
            </a:r>
            <a:endParaRPr lang="en-US" sz="1200" dirty="0"/>
          </a:p>
        </p:txBody>
      </p:sp>
      <p:sp>
        <p:nvSpPr>
          <p:cNvPr id="45" name="Shape 43"/>
          <p:cNvSpPr/>
          <p:nvPr/>
        </p:nvSpPr>
        <p:spPr>
          <a:xfrm>
            <a:off x="3352800" y="2305050"/>
            <a:ext cx="730250" cy="190500"/>
          </a:xfrm>
          <a:prstGeom prst="roundRect">
            <a:avLst>
              <a:gd name="adj" fmla="val 26667"/>
            </a:avLst>
          </a:prstGeom>
          <a:solidFill>
            <a:srgbClr val="0F6E70"/>
          </a:solidFill>
          <a:ln/>
        </p:spPr>
      </p:sp>
      <p:sp>
        <p:nvSpPr>
          <p:cNvPr id="46" name="Shape 44"/>
          <p:cNvSpPr/>
          <p:nvPr/>
        </p:nvSpPr>
        <p:spPr>
          <a:xfrm>
            <a:off x="3657600" y="2736850"/>
            <a:ext cx="1092200" cy="190500"/>
          </a:xfrm>
          <a:prstGeom prst="roundRect">
            <a:avLst>
              <a:gd name="adj" fmla="val 26667"/>
            </a:avLst>
          </a:prstGeom>
          <a:solidFill>
            <a:srgbClr val="0F6E70"/>
          </a:solidFill>
          <a:ln/>
        </p:spPr>
      </p:sp>
      <p:sp>
        <p:nvSpPr>
          <p:cNvPr id="47" name="Shape 45"/>
          <p:cNvSpPr/>
          <p:nvPr/>
        </p:nvSpPr>
        <p:spPr>
          <a:xfrm>
            <a:off x="4324350" y="3168650"/>
            <a:ext cx="1219200" cy="190500"/>
          </a:xfrm>
          <a:prstGeom prst="roundRect">
            <a:avLst>
              <a:gd name="adj" fmla="val 26667"/>
            </a:avLst>
          </a:prstGeom>
          <a:solidFill>
            <a:srgbClr val="0F6E70"/>
          </a:solidFill>
          <a:ln/>
        </p:spPr>
      </p:sp>
      <p:sp>
        <p:nvSpPr>
          <p:cNvPr id="48" name="Shape 46"/>
          <p:cNvSpPr/>
          <p:nvPr/>
        </p:nvSpPr>
        <p:spPr>
          <a:xfrm>
            <a:off x="5238750" y="3600450"/>
            <a:ext cx="2006600" cy="190500"/>
          </a:xfrm>
          <a:prstGeom prst="roundRect">
            <a:avLst>
              <a:gd name="adj" fmla="val 26667"/>
            </a:avLst>
          </a:prstGeom>
          <a:solidFill>
            <a:srgbClr val="0F6E70"/>
          </a:solidFill>
          <a:ln/>
        </p:spPr>
      </p:sp>
      <p:sp>
        <p:nvSpPr>
          <p:cNvPr id="49" name="Shape 47"/>
          <p:cNvSpPr/>
          <p:nvPr/>
        </p:nvSpPr>
        <p:spPr>
          <a:xfrm>
            <a:off x="6515100" y="4032250"/>
            <a:ext cx="3225800" cy="190500"/>
          </a:xfrm>
          <a:prstGeom prst="roundRect">
            <a:avLst>
              <a:gd name="adj" fmla="val 26667"/>
            </a:avLst>
          </a:prstGeom>
          <a:solidFill>
            <a:srgbClr val="12302F"/>
          </a:solidFill>
          <a:ln/>
        </p:spPr>
      </p:sp>
      <p:sp>
        <p:nvSpPr>
          <p:cNvPr id="50" name="Shape 48"/>
          <p:cNvSpPr/>
          <p:nvPr/>
        </p:nvSpPr>
        <p:spPr>
          <a:xfrm>
            <a:off x="7670800" y="4464050"/>
            <a:ext cx="2190750" cy="190500"/>
          </a:xfrm>
          <a:prstGeom prst="roundRect">
            <a:avLst>
              <a:gd name="adj" fmla="val 26667"/>
            </a:avLst>
          </a:prstGeom>
          <a:solidFill>
            <a:srgbClr val="12302F"/>
          </a:solidFill>
          <a:ln/>
        </p:spPr>
      </p:sp>
      <p:sp>
        <p:nvSpPr>
          <p:cNvPr id="51" name="Shape 49"/>
          <p:cNvSpPr/>
          <p:nvPr/>
        </p:nvSpPr>
        <p:spPr>
          <a:xfrm>
            <a:off x="3352800" y="4895850"/>
            <a:ext cx="7480300" cy="190500"/>
          </a:xfrm>
          <a:prstGeom prst="roundRect">
            <a:avLst>
              <a:gd name="adj" fmla="val 26667"/>
            </a:avLst>
          </a:prstGeom>
          <a:solidFill>
            <a:srgbClr val="5C9E9A"/>
          </a:solidFill>
          <a:ln/>
        </p:spPr>
      </p:sp>
      <p:sp>
        <p:nvSpPr>
          <p:cNvPr id="52" name="Shape 50"/>
          <p:cNvSpPr/>
          <p:nvPr/>
        </p:nvSpPr>
        <p:spPr>
          <a:xfrm>
            <a:off x="4845050" y="2184400"/>
            <a:ext cx="0" cy="3022600"/>
          </a:xfrm>
          <a:prstGeom prst="line">
            <a:avLst/>
          </a:prstGeom>
          <a:noFill/>
          <a:ln w="12700">
            <a:solidFill>
              <a:srgbClr val="C2410C"/>
            </a:solidFill>
            <a:prstDash val="dash"/>
          </a:ln>
        </p:spPr>
      </p:sp>
      <p:sp>
        <p:nvSpPr>
          <p:cNvPr id="53" name="Text 51"/>
          <p:cNvSpPr/>
          <p:nvPr/>
        </p:nvSpPr>
        <p:spPr>
          <a:xfrm>
            <a:off x="4730750" y="52832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1</a:t>
            </a:r>
            <a:endParaRPr lang="en-US" sz="1200" dirty="0"/>
          </a:p>
        </p:txBody>
      </p:sp>
      <p:sp>
        <p:nvSpPr>
          <p:cNvPr id="54" name="Shape 52"/>
          <p:cNvSpPr/>
          <p:nvPr/>
        </p:nvSpPr>
        <p:spPr>
          <a:xfrm>
            <a:off x="9099550" y="2184400"/>
            <a:ext cx="0" cy="3022600"/>
          </a:xfrm>
          <a:prstGeom prst="line">
            <a:avLst/>
          </a:prstGeom>
          <a:noFill/>
          <a:ln w="12700">
            <a:solidFill>
              <a:srgbClr val="C2410C"/>
            </a:solidFill>
            <a:prstDash val="dash"/>
          </a:ln>
        </p:spPr>
      </p:sp>
      <p:sp>
        <p:nvSpPr>
          <p:cNvPr id="55" name="Text 53"/>
          <p:cNvSpPr/>
          <p:nvPr/>
        </p:nvSpPr>
        <p:spPr>
          <a:xfrm>
            <a:off x="8985250" y="52832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2</a:t>
            </a:r>
            <a:endParaRPr lang="en-US" sz="1200" dirty="0"/>
          </a:p>
        </p:txBody>
      </p:sp>
      <p:sp>
        <p:nvSpPr>
          <p:cNvPr id="56" name="Shape 54"/>
          <p:cNvSpPr/>
          <p:nvPr/>
        </p:nvSpPr>
        <p:spPr>
          <a:xfrm>
            <a:off x="9950450" y="2184400"/>
            <a:ext cx="0" cy="3022600"/>
          </a:xfrm>
          <a:prstGeom prst="line">
            <a:avLst/>
          </a:prstGeom>
          <a:noFill/>
          <a:ln w="12700">
            <a:solidFill>
              <a:srgbClr val="C2410C"/>
            </a:solidFill>
            <a:prstDash val="dash"/>
          </a:ln>
        </p:spPr>
      </p:sp>
      <p:sp>
        <p:nvSpPr>
          <p:cNvPr id="57" name="Text 55"/>
          <p:cNvSpPr/>
          <p:nvPr/>
        </p:nvSpPr>
        <p:spPr>
          <a:xfrm>
            <a:off x="9836150" y="52832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3</a:t>
            </a:r>
            <a:endParaRPr lang="en-US" sz="1200" dirty="0"/>
          </a:p>
        </p:txBody>
      </p:sp>
      <p:sp>
        <p:nvSpPr>
          <p:cNvPr id="58" name="Shape 56"/>
          <p:cNvSpPr/>
          <p:nvPr/>
        </p:nvSpPr>
        <p:spPr>
          <a:xfrm>
            <a:off x="10801350" y="2184400"/>
            <a:ext cx="0" cy="3022600"/>
          </a:xfrm>
          <a:prstGeom prst="line">
            <a:avLst/>
          </a:prstGeom>
          <a:noFill/>
          <a:ln w="12700">
            <a:solidFill>
              <a:srgbClr val="C2410C"/>
            </a:solidFill>
            <a:prstDash val="dash"/>
          </a:ln>
        </p:spPr>
      </p:sp>
      <p:sp>
        <p:nvSpPr>
          <p:cNvPr id="59" name="Text 57"/>
          <p:cNvSpPr/>
          <p:nvPr/>
        </p:nvSpPr>
        <p:spPr>
          <a:xfrm>
            <a:off x="10687050" y="5283200"/>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C2410C"/>
          </a:solidFill>
          <a:ln/>
        </p:spPr>
        <p:txBody>
          <a:bodyPr wrap="square" lIns="0" tIns="0" rIns="0" bIns="0" rtlCol="0" anchor="t">
            <a:normAutofit/>
          </a:bodyPr>
          <a:lstStyle/>
          <a:p>
            <a:pPr marL="0" indent="0" algn="ctr">
              <a:lnSpc>
                <a:spcPts val="1800"/>
              </a:lnSpc>
              <a:buNone/>
            </a:pPr>
            <a:r>
              <a:rPr lang="en-US" sz="1200" b="1" dirty="0">
                <a:solidFill>
                  <a:srgbClr val="FDFCF9"/>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302F"/>
                </a:solidFill>
                <a:latin typeface="Source Serif 4" pitchFamily="18" charset="0"/>
                <a:ea typeface="Source Serif 4" pitchFamily="18" charset="-122"/>
                <a:cs typeface="Source Serif 4" pitchFamily="18" charset="-120"/>
              </a:rPr>
              <a:t>Measuring Success</a:t>
            </a:r>
            <a:endParaRPr lang="en-US" sz="3000" dirty="0"/>
          </a:p>
        </p:txBody>
      </p:sp>
      <p:sp>
        <p:nvSpPr>
          <p:cNvPr id="3" name="Text 1"/>
          <p:cNvSpPr/>
          <p:nvPr/>
        </p:nvSpPr>
        <p:spPr>
          <a:xfrm>
            <a:off x="812800" y="14351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5D5C"/>
                </a:solidFill>
                <a:latin typeface="IBM Plex Sans" pitchFamily="34" charset="0"/>
                <a:ea typeface="IBM Plex Sans" pitchFamily="34" charset="-122"/>
                <a:cs typeface="IBM Plex Sans" pitchFamily="34" charset="-120"/>
              </a:rPr>
              <a:t>The MVP is piloted with a small number of hospitals and patients, then judged against these targets.</a:t>
            </a:r>
            <a:endParaRPr lang="en-US" sz="1400" dirty="0"/>
          </a:p>
        </p:txBody>
      </p:sp>
      <p:sp>
        <p:nvSpPr>
          <p:cNvPr id="4" name="Shape 2"/>
          <p:cNvSpPr/>
          <p:nvPr/>
        </p:nvSpPr>
        <p:spPr>
          <a:xfrm>
            <a:off x="815975" y="1933575"/>
            <a:ext cx="3378200" cy="1581150"/>
          </a:xfrm>
          <a:prstGeom prst="roundRect">
            <a:avLst>
              <a:gd name="adj" fmla="val 6225"/>
            </a:avLst>
          </a:prstGeom>
          <a:solidFill>
            <a:srgbClr val="FDFCF9"/>
          </a:solidFill>
          <a:ln w="6350">
            <a:solidFill>
              <a:srgbClr val="E2DED4"/>
            </a:solidFill>
            <a:prstDash val="solid"/>
          </a:ln>
        </p:spPr>
      </p:sp>
      <p:sp>
        <p:nvSpPr>
          <p:cNvPr id="5" name="Text 3"/>
          <p:cNvSpPr/>
          <p:nvPr/>
        </p:nvSpPr>
        <p:spPr>
          <a:xfrm>
            <a:off x="1022350" y="2139950"/>
            <a:ext cx="305441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 10 cases</a:t>
            </a:r>
            <a:endParaRPr lang="en-US" sz="3000" dirty="0"/>
          </a:p>
        </p:txBody>
      </p:sp>
      <p:sp>
        <p:nvSpPr>
          <p:cNvPr id="6" name="Text 4"/>
          <p:cNvSpPr/>
          <p:nvPr/>
        </p:nvSpPr>
        <p:spPr>
          <a:xfrm>
            <a:off x="1022350" y="2609850"/>
            <a:ext cx="305441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Full-cycle completion</a:t>
            </a:r>
            <a:endParaRPr lang="en-US" sz="1400" dirty="0"/>
          </a:p>
        </p:txBody>
      </p:sp>
      <p:sp>
        <p:nvSpPr>
          <p:cNvPr id="7" name="Text 5"/>
          <p:cNvSpPr/>
          <p:nvPr/>
        </p:nvSpPr>
        <p:spPr>
          <a:xfrm>
            <a:off x="1022350" y="2873970"/>
            <a:ext cx="30544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From inquiry to deposit with no help outside the platform</a:t>
            </a:r>
            <a:endParaRPr lang="en-US" sz="1200" dirty="0"/>
          </a:p>
        </p:txBody>
      </p:sp>
      <p:sp>
        <p:nvSpPr>
          <p:cNvPr id="8" name="Shape 6"/>
          <p:cNvSpPr/>
          <p:nvPr/>
        </p:nvSpPr>
        <p:spPr>
          <a:xfrm>
            <a:off x="4403725" y="1933575"/>
            <a:ext cx="3378200" cy="1581150"/>
          </a:xfrm>
          <a:prstGeom prst="roundRect">
            <a:avLst>
              <a:gd name="adj" fmla="val 6225"/>
            </a:avLst>
          </a:prstGeom>
          <a:solidFill>
            <a:srgbClr val="FDFCF9"/>
          </a:solidFill>
          <a:ln w="6350">
            <a:solidFill>
              <a:srgbClr val="E2DED4"/>
            </a:solidFill>
            <a:prstDash val="solid"/>
          </a:ln>
        </p:spPr>
      </p:sp>
      <p:sp>
        <p:nvSpPr>
          <p:cNvPr id="9" name="Text 7"/>
          <p:cNvSpPr/>
          <p:nvPr/>
        </p:nvSpPr>
        <p:spPr>
          <a:xfrm>
            <a:off x="4610100" y="2139950"/>
            <a:ext cx="305441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&lt; 48 h</a:t>
            </a:r>
            <a:endParaRPr lang="en-US" sz="3000" dirty="0"/>
          </a:p>
        </p:txBody>
      </p:sp>
      <p:sp>
        <p:nvSpPr>
          <p:cNvPr id="10" name="Text 8"/>
          <p:cNvSpPr/>
          <p:nvPr/>
        </p:nvSpPr>
        <p:spPr>
          <a:xfrm>
            <a:off x="4610100" y="2609850"/>
            <a:ext cx="305441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Response time</a:t>
            </a:r>
            <a:endParaRPr lang="en-US" sz="1400" dirty="0"/>
          </a:p>
        </p:txBody>
      </p:sp>
      <p:sp>
        <p:nvSpPr>
          <p:cNvPr id="11" name="Text 9"/>
          <p:cNvSpPr/>
          <p:nvPr/>
        </p:nvSpPr>
        <p:spPr>
          <a:xfrm>
            <a:off x="4610100" y="2873970"/>
            <a:ext cx="30544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Average time from inquiry to quote</a:t>
            </a:r>
            <a:endParaRPr lang="en-US" sz="1200" dirty="0"/>
          </a:p>
        </p:txBody>
      </p:sp>
      <p:sp>
        <p:nvSpPr>
          <p:cNvPr id="12" name="Shape 10"/>
          <p:cNvSpPr/>
          <p:nvPr/>
        </p:nvSpPr>
        <p:spPr>
          <a:xfrm>
            <a:off x="7991475" y="1933575"/>
            <a:ext cx="3378200" cy="1581150"/>
          </a:xfrm>
          <a:prstGeom prst="roundRect">
            <a:avLst>
              <a:gd name="adj" fmla="val 6225"/>
            </a:avLst>
          </a:prstGeom>
          <a:solidFill>
            <a:srgbClr val="FDFCF9"/>
          </a:solidFill>
          <a:ln w="6350">
            <a:solidFill>
              <a:srgbClr val="E2DED4"/>
            </a:solidFill>
            <a:prstDash val="solid"/>
          </a:ln>
        </p:spPr>
      </p:sp>
      <p:sp>
        <p:nvSpPr>
          <p:cNvPr id="13" name="Text 11"/>
          <p:cNvSpPr/>
          <p:nvPr/>
        </p:nvSpPr>
        <p:spPr>
          <a:xfrm>
            <a:off x="8197850" y="2139950"/>
            <a:ext cx="305441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 15%</a:t>
            </a:r>
            <a:endParaRPr lang="en-US" sz="3000" dirty="0"/>
          </a:p>
        </p:txBody>
      </p:sp>
      <p:sp>
        <p:nvSpPr>
          <p:cNvPr id="14" name="Text 12"/>
          <p:cNvSpPr/>
          <p:nvPr/>
        </p:nvSpPr>
        <p:spPr>
          <a:xfrm>
            <a:off x="8197850" y="2609850"/>
            <a:ext cx="305441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Conversion rate</a:t>
            </a:r>
            <a:endParaRPr lang="en-US" sz="1400" dirty="0"/>
          </a:p>
        </p:txBody>
      </p:sp>
      <p:sp>
        <p:nvSpPr>
          <p:cNvPr id="15" name="Text 13"/>
          <p:cNvSpPr/>
          <p:nvPr/>
        </p:nvSpPr>
        <p:spPr>
          <a:xfrm>
            <a:off x="8197850" y="2873970"/>
            <a:ext cx="30544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Inquiries that become bookings</a:t>
            </a:r>
            <a:endParaRPr lang="en-US" sz="1200" dirty="0"/>
          </a:p>
        </p:txBody>
      </p:sp>
      <p:sp>
        <p:nvSpPr>
          <p:cNvPr id="16" name="Shape 14"/>
          <p:cNvSpPr/>
          <p:nvPr/>
        </p:nvSpPr>
        <p:spPr>
          <a:xfrm>
            <a:off x="815975" y="3673475"/>
            <a:ext cx="3378200" cy="1581150"/>
          </a:xfrm>
          <a:prstGeom prst="roundRect">
            <a:avLst>
              <a:gd name="adj" fmla="val 6225"/>
            </a:avLst>
          </a:prstGeom>
          <a:solidFill>
            <a:srgbClr val="FDFCF9"/>
          </a:solidFill>
          <a:ln w="6350">
            <a:solidFill>
              <a:srgbClr val="E2DED4"/>
            </a:solidFill>
            <a:prstDash val="solid"/>
          </a:ln>
        </p:spPr>
      </p:sp>
      <p:sp>
        <p:nvSpPr>
          <p:cNvPr id="17" name="Text 15"/>
          <p:cNvSpPr/>
          <p:nvPr/>
        </p:nvSpPr>
        <p:spPr>
          <a:xfrm>
            <a:off x="1022350" y="3879850"/>
            <a:ext cx="305441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 95%</a:t>
            </a:r>
            <a:endParaRPr lang="en-US" sz="3000" dirty="0"/>
          </a:p>
        </p:txBody>
      </p:sp>
      <p:sp>
        <p:nvSpPr>
          <p:cNvPr id="18" name="Text 16"/>
          <p:cNvSpPr/>
          <p:nvPr/>
        </p:nvSpPr>
        <p:spPr>
          <a:xfrm>
            <a:off x="1022350" y="4349750"/>
            <a:ext cx="305441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Payment success</a:t>
            </a:r>
            <a:endParaRPr lang="en-US" sz="1400" dirty="0"/>
          </a:p>
        </p:txBody>
      </p:sp>
      <p:sp>
        <p:nvSpPr>
          <p:cNvPr id="19" name="Text 17"/>
          <p:cNvSpPr/>
          <p:nvPr/>
        </p:nvSpPr>
        <p:spPr>
          <a:xfrm>
            <a:off x="1022350" y="4613870"/>
            <a:ext cx="30544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Successful payments out of all attempts</a:t>
            </a:r>
            <a:endParaRPr lang="en-US" sz="1200" dirty="0"/>
          </a:p>
        </p:txBody>
      </p:sp>
      <p:sp>
        <p:nvSpPr>
          <p:cNvPr id="20" name="Shape 18"/>
          <p:cNvSpPr/>
          <p:nvPr/>
        </p:nvSpPr>
        <p:spPr>
          <a:xfrm>
            <a:off x="4403725" y="3673475"/>
            <a:ext cx="3378200" cy="1581150"/>
          </a:xfrm>
          <a:prstGeom prst="roundRect">
            <a:avLst>
              <a:gd name="adj" fmla="val 6225"/>
            </a:avLst>
          </a:prstGeom>
          <a:solidFill>
            <a:srgbClr val="FDFCF9"/>
          </a:solidFill>
          <a:ln w="6350">
            <a:solidFill>
              <a:srgbClr val="E2DED4"/>
            </a:solidFill>
            <a:prstDash val="solid"/>
          </a:ln>
        </p:spPr>
      </p:sp>
      <p:sp>
        <p:nvSpPr>
          <p:cNvPr id="21" name="Text 19"/>
          <p:cNvSpPr/>
          <p:nvPr/>
        </p:nvSpPr>
        <p:spPr>
          <a:xfrm>
            <a:off x="4610100" y="3879850"/>
            <a:ext cx="305441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C2410C"/>
                </a:solidFill>
                <a:latin typeface="Source Serif 4" pitchFamily="18" charset="0"/>
                <a:ea typeface="Source Serif 4" pitchFamily="18" charset="-122"/>
                <a:cs typeface="Source Serif 4" pitchFamily="18" charset="-120"/>
              </a:rPr>
              <a:t>0</a:t>
            </a:r>
            <a:endParaRPr lang="en-US" sz="3000" dirty="0"/>
          </a:p>
        </p:txBody>
      </p:sp>
      <p:sp>
        <p:nvSpPr>
          <p:cNvPr id="22" name="Text 20"/>
          <p:cNvSpPr/>
          <p:nvPr/>
        </p:nvSpPr>
        <p:spPr>
          <a:xfrm>
            <a:off x="4610100" y="4349750"/>
            <a:ext cx="305441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Security incidents</a:t>
            </a:r>
            <a:endParaRPr lang="en-US" sz="1400" dirty="0"/>
          </a:p>
        </p:txBody>
      </p:sp>
      <p:sp>
        <p:nvSpPr>
          <p:cNvPr id="23" name="Text 21"/>
          <p:cNvSpPr/>
          <p:nvPr/>
        </p:nvSpPr>
        <p:spPr>
          <a:xfrm>
            <a:off x="4610100" y="4613870"/>
            <a:ext cx="30544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Unauthorised access to medical data</a:t>
            </a:r>
            <a:endParaRPr lang="en-US" sz="1200" dirty="0"/>
          </a:p>
        </p:txBody>
      </p:sp>
      <p:sp>
        <p:nvSpPr>
          <p:cNvPr id="24" name="Shape 22"/>
          <p:cNvSpPr/>
          <p:nvPr/>
        </p:nvSpPr>
        <p:spPr>
          <a:xfrm>
            <a:off x="7991475" y="3673475"/>
            <a:ext cx="3378200" cy="1581150"/>
          </a:xfrm>
          <a:prstGeom prst="roundRect">
            <a:avLst>
              <a:gd name="adj" fmla="val 6225"/>
            </a:avLst>
          </a:prstGeom>
          <a:solidFill>
            <a:srgbClr val="FDFCF9"/>
          </a:solidFill>
          <a:ln w="6350">
            <a:solidFill>
              <a:srgbClr val="E2DED4"/>
            </a:solidFill>
            <a:prstDash val="solid"/>
          </a:ln>
        </p:spPr>
      </p:sp>
      <p:sp>
        <p:nvSpPr>
          <p:cNvPr id="25" name="Text 23"/>
          <p:cNvSpPr/>
          <p:nvPr/>
        </p:nvSpPr>
        <p:spPr>
          <a:xfrm>
            <a:off x="8197850" y="3879850"/>
            <a:ext cx="305441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6E70"/>
                </a:solidFill>
                <a:latin typeface="Source Serif 4" pitchFamily="18" charset="0"/>
                <a:ea typeface="Source Serif 4" pitchFamily="18" charset="-122"/>
                <a:cs typeface="Source Serif 4" pitchFamily="18" charset="-120"/>
              </a:rPr>
              <a:t>≥ 4 / 5</a:t>
            </a:r>
            <a:endParaRPr lang="en-US" sz="3000" dirty="0"/>
          </a:p>
        </p:txBody>
      </p:sp>
      <p:sp>
        <p:nvSpPr>
          <p:cNvPr id="26" name="Text 24"/>
          <p:cNvSpPr/>
          <p:nvPr/>
        </p:nvSpPr>
        <p:spPr>
          <a:xfrm>
            <a:off x="8197850" y="4349750"/>
            <a:ext cx="305441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302F"/>
                </a:solidFill>
                <a:latin typeface="IBM Plex Sans" pitchFamily="34" charset="0"/>
                <a:ea typeface="IBM Plex Sans" pitchFamily="34" charset="-122"/>
                <a:cs typeface="IBM Plex Sans" pitchFamily="34" charset="-120"/>
              </a:rPr>
              <a:t>User satisfaction</a:t>
            </a:r>
            <a:endParaRPr lang="en-US" sz="1400" dirty="0"/>
          </a:p>
        </p:txBody>
      </p:sp>
      <p:sp>
        <p:nvSpPr>
          <p:cNvPr id="27" name="Text 25"/>
          <p:cNvSpPr/>
          <p:nvPr/>
        </p:nvSpPr>
        <p:spPr>
          <a:xfrm>
            <a:off x="8197850" y="4613870"/>
            <a:ext cx="30544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D5C"/>
                </a:solidFill>
                <a:latin typeface="IBM Plex Sans" pitchFamily="34" charset="0"/>
                <a:ea typeface="IBM Plex Sans" pitchFamily="34" charset="-122"/>
                <a:cs typeface="IBM Plex Sans" pitchFamily="34" charset="-120"/>
              </a:rPr>
              <a:t>Short survey of patients and providers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02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540000"/>
            <a:ext cx="784860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Source Serif 4" pitchFamily="18" charset="0"/>
                <a:ea typeface="Source Serif 4" pitchFamily="18" charset="-122"/>
                <a:cs typeface="Source Serif 4" pitchFamily="18" charset="-120"/>
              </a:rPr>
              <a:t>Thank You</a:t>
            </a:r>
            <a:endParaRPr lang="en-US" sz="4800" dirty="0"/>
          </a:p>
        </p:txBody>
      </p:sp>
      <p:sp>
        <p:nvSpPr>
          <p:cNvPr id="3" name="Text 1"/>
          <p:cNvSpPr/>
          <p:nvPr/>
        </p:nvSpPr>
        <p:spPr>
          <a:xfrm>
            <a:off x="812800" y="3429000"/>
            <a:ext cx="78486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AD8"/>
                </a:solidFill>
                <a:latin typeface="IBM Plex Sans" pitchFamily="34" charset="0"/>
                <a:ea typeface="IBM Plex Sans" pitchFamily="34" charset="-122"/>
                <a:cs typeface="IBM Plex Sans" pitchFamily="34" charset="-120"/>
              </a:rPr>
              <a:t>Questions and discussion</a:t>
            </a:r>
            <a:endParaRPr lang="en-US" sz="1600" dirty="0"/>
          </a:p>
        </p:txBody>
      </p:sp>
      <p:sp>
        <p:nvSpPr>
          <p:cNvPr id="4"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C9C4"/>
                </a:solidFill>
                <a:latin typeface="IBM Plex Sans" pitchFamily="34" charset="0"/>
                <a:ea typeface="IBM Plex Sans" pitchFamily="34" charset="-122"/>
                <a:cs typeface="IBM Plex Sans" pitchFamily="34" charset="-120"/>
              </a:rPr>
              <a:t>SMART MEDICAL TOURISM SYSTEM</a:t>
            </a:r>
            <a:endParaRPr lang="en-US" sz="1200" dirty="0"/>
          </a:p>
        </p:txBody>
      </p:sp>
    </p:spTree>
  </p:cSld>
  <p:clrMapOvr>
    <a:masterClrMapping/>
  </p:clrMapOvr>
</p:sld>
</file>

<file path=ppt/theme/theme1.xml><?xml version="1.0" encoding="utf-8"?>
<a:theme xmlns:a="http://schemas.openxmlformats.org/drawingml/2006/main" name="Smart Medical Tourism System">
  <a:themeElements>
    <a:clrScheme name="Smart Medical Tourism System">
      <a:dk1>
        <a:srgbClr val="17302F"/>
      </a:dk1>
      <a:lt1>
        <a:srgbClr val="F6F4EF"/>
      </a:lt1>
      <a:dk2>
        <a:srgbClr val="4F615F"/>
      </a:dk2>
      <a:lt2>
        <a:srgbClr val="E0E0DC"/>
      </a:lt2>
      <a:accent1>
        <a:srgbClr val="0F6E70"/>
      </a:accent1>
      <a:accent2>
        <a:srgbClr val="C2410C"/>
      </a:accent2>
      <a:accent3>
        <a:srgbClr val="8FC9C4"/>
      </a:accent3>
      <a:accent4>
        <a:srgbClr val="A3360A"/>
      </a:accent4>
      <a:accent5>
        <a:srgbClr val="5C9E9A"/>
      </a:accent5>
      <a:accent6>
        <a:srgbClr val="4C5D5C"/>
      </a:accent6>
      <a:hlink>
        <a:srgbClr val="0563C1"/>
      </a:hlink>
      <a:folHlink>
        <a:srgbClr val="954F72"/>
      </a:folHlink>
    </a:clrScheme>
    <a:fontScheme name="Smart Medical Tourism Syste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Smart Medical Tourism System</vt:lpstr>
      <vt:lpstr>Smart Medical Tourism System</vt:lpstr>
      <vt:lpstr>The Problem</vt:lpstr>
      <vt:lpstr>Project Objective</vt:lpstr>
      <vt:lpstr>The Proposed Solution</vt:lpstr>
      <vt:lpstr>Solution Flowchart: The Patient Journey</vt:lpstr>
      <vt:lpstr>System Architecture &amp; Technologies</vt:lpstr>
      <vt:lpstr>Methodology: Phased, Iterative Development</vt:lpstr>
      <vt:lpstr>Project Timeline (Gantt Chart)</vt:lpstr>
      <vt:lpstr>Measuring Success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Medical Tourism System</dc:title>
  <dc:subject/>
  <dc:creator/>
  <cp:lastModifiedBy/>
  <cp:revision>13</cp:revision>
  <dcterms:created xsi:type="dcterms:W3CDTF">2026-10-27T19:40:02Z</dcterms:created>
  <dcterms:modified xsi:type="dcterms:W3CDTF">2026-10-28T13:55:39Z</dcterms:modified>
</cp:coreProperties>
</file>